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2732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presentation walks through the design of a small Online Shopping System in Python that manages products, customers and orders. It was built to show core object-oriented principles in practice. I will move through the concepts in the order they build on each other - classes and objects, the object life-cycle, inheritance and polymorphism, abstraction, encapsulation and abstract data types - and on each slide I point out one design decision and its trade-off. I finish with a critical evaluation. The full source file is submitted with the slides and every snippet comes from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classes mirror the three nouns in the brief: Product, Customer and Order. A class is only a blueprint; the last three lines create real objects, each with its own state, so two Products can hold different stock while sharing behaviour. The key decision is that an Order does not copy product data. It holds references to Product objects plus a quantity, which gives a single source of truth: a price change is visible to every pending order, and stock is decremented on the real object. The trade-off is coupling - the Order depends on the Product instance staying alive, which is fine in memory but would become an ID reference once a database is introduced.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Constructors and destructors bracket an object's life. The constructor __init__ validates every argument before storing it, so a Product can never exist with a negative price or stock - the first line of defence for data integrity. The destructor __del__ runs when the garbage collector frees the object; in Order it releases reserved stock if the order was abandoned while pending, and the output shows the mouse stock going back up. Critically, this is a safety net, not the design. CPython frees most objects immediately by reference counting, but objects in a cycle wait for the cyclic collector, so timing is not guaranteed. That is why Order has an explicit cancel() method, which is what production code should rely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state live in Order. Instance variables such as the item list and status are unique to each order. The class variable _next_id is shared by the whole class and incremented in the constructor, giving every order a unique ID without an external counter. from_cart is a @classmethod: it receives the class, not an instance, and acts as an alternative constructor that builds an Order from a ShoppingCart. add_item calls reserve first and only appends the line if that succeeds, so asking for more stock than exists leaves the order unchanged. total_cost asks the customer object for its discount instead of checking its type - the hook for polymorphism on slide 6. Trade-off: stock is committed at add time, so a real shop would add a reservation timeout.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Inheritance models an is-a relationship. The diagram shows the chain: User is abstract, Customer is the concrete buyer, PremiumCustomer specialises Customer. In the code PremiumCustomer calls super().__init__, so e-mail validation and the order list come from the parents; the subclass only adds the membership year and a discount rate. Because it keeps the parent's interface, an Order can hold either type without knowing which. I chose inheritance because a premium customer really is a customer in every respect except pricing. My evaluation is that this stops scaling if pricing rules multiply, since every tier becomes a subclass. The alternative is the Strategy pattern, where the discount rule is a separate object - I return to that in the conclusion.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PremiumCustomer overrides two inherited methods: get_role and calculate_discount. The override keeps the same signature but changes behaviour - ten percent off plus a loyalty bonus after five years. Polymorphism is what makes this useful: the loop calls the same method on two objects and gets two results, Alice with no discount and Bob with 150. More importantly, Order calls calculate_discount through the base type and never checks which subclass it has, so a new customer tier is one new class and no changes elsewhere - the open/closed principle in practice. One limitation: Python resolves the override at run time and has no override keyword, so a typo would silently create a new method. In Java the compiler would flag it; here I rely on tests or a type checker.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Abstraction separates what an object does from how. User is an abstract base class: it holds the identity fields and the shared __str__ but marks get_role as abstract, so a bare User cannot be instantiated - the demo raises a TypeError. Orderable plays the role of an interface. Python has no interface keyword, so an ABC containing only abstract methods is the idiomatic equivalent: three methods any item in an order must provide. The diagram shows two implementations, Product with stock and GiftCard without, and Order can hold either. The modern alternative is typing.Protocol, which defines the contract structurally. I chose the ABC because the failure is immediate and loud; for a library consumed by third parties the Protocol would be less intrusive.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has no public, protected or private keywords; it uses the naming conventions in the table. A single underscore marks an attribute as internal; a double underscore triggers name mangling, so __product_id is stored as _Product__product_id and cannot be reached by accident. In the code, price is a protected attribute exposed through a property: reading is free, but writing goes through a setter that rejects negative values, and the output shows both the rejected write and the mangled attribute. The honest evaluation is that none of this is enforced by the compiler; a determined caller can still reach the mangled name. What the conventions give you is protection from mistakes, so data integrity rests on the properties - every state change passes through one validated path.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Encapsulation and information hiding are related but distinct. Encapsulation means data and its operations are bundled in one class: ShoppingCart keeps the dictionary of lines and the rule that quantities must be positive together, so they cannot drift apart. Information hiding is about what callers may depend on. Nothing outside ShoppingCart knows it uses a dictionary; it could switch to a list or a database table and Order.from_cart would not change, because it only calls lines(). Customer.orders follows the same idea by returning a tuple, so nobody can append to the history from outside. The cost is a copy on every read - negligible for a cart, but for thousands of orders I would use a read-only proxy or paginate.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class diagram: the inheritance chain on the left, the Orderable interface at the top with its two implementations, and Order and ShoppingCart at the bottom holding items through that interface. ShoppingCart is the abstract data type. An ADT is specified by what you can do with it - add, remove, list, check emptiness, clear - and how those operations behave together, not by how data is stored. That is exactly what lets the representation change. Orderable is what makes the design flexible: because Order only calls get_price, get_description and reserve, a gift card without stock and a physical product go through identical code. The reuse test is simple - adding a new item type or customer tier means one new class and nothing else.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each pillar solved a concrete requirement. Classes and objects gave a domain model whose constructors make invalid state impossible. Inheritance and polymorphism let a premium customer change pricing without touching Order. Encapsulation, through validated properties and a hidden cart representation, delivers the data integrity the brief asks for. Abstraction, through User and Orderable, keeps the design open to future enhancements. Evaluating honestly: the strengths are correctness and extensibility. The limitations are real - float is the wrong type for money and should be Decimal; stock release relies on cancellation or garbage collection; and everything lives in memory. To scale it I would introduce the Strategy pattern for discounts, dataclasses to cut boilerplate, and a repository layer over a database with reservation timeouts. The abstractions chosen now are what make those changes local rather than system-wide.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the presentation. Questions I have prepared for: why an ABC rather than a Protocol for Orderable, why stock is reserved at add time rather than checkout, and how discounts would move to a Strategy object. Thank you for listening.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for the concepts and language features, in Harvard format. The code is original; only the documented language mechanisms are cited.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a:effectLst/>
      </p:bgPr>
    </p:bg>
    <p:spTree>
      <p:nvGrpSpPr>
        <p:cNvPr id="1" name=""/>
        <p:cNvGrpSpPr/>
        <p:nvPr/>
      </p:nvGrpSpPr>
      <p:grpSpPr>
        <a:xfrm>
          <a:off x="0" y="0"/>
          <a:ext cx="0" cy="0"/>
          <a:chOff x="0" y="0"/>
          <a:chExt cx="0" cy="0"/>
        </a:xfrm>
      </p:grpSpPr>
      <p:sp>
        <p:nvSpPr>
          <p:cNvPr id="2" name="Text 0"/>
          <p:cNvSpPr txBox="1"/>
          <p:nvPr/>
        </p:nvSpPr>
        <p:spPr>
          <a:xfrm>
            <a:off x="8138160" y="4773168"/>
            <a:ext cx="640080" cy="256032"/>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1 / 13</a:t>
            </a:r>
            <a:endParaRPr lang="en-US" sz="900" dirty="0"/>
          </a:p>
        </p:txBody>
      </p:sp>
      <p:sp>
        <p:nvSpPr>
          <p:cNvPr id="3" name="Text 1"/>
          <p:cNvSpPr txBox="1"/>
          <p:nvPr/>
        </p:nvSpPr>
        <p:spPr>
          <a:xfrm>
            <a:off x="548640" y="1005840"/>
            <a:ext cx="4937760" cy="1097280"/>
          </a:xfrm>
          <a:prstGeom prst="rect">
            <a:avLst/>
          </a:prstGeom>
          <a:noFill/>
          <a:ln/>
        </p:spPr>
        <p:txBody>
          <a:bodyPr wrap="square" lIns="0" tIns="0" rIns="0" bIns="0" rtlCol="0" anchor="b"/>
          <a:lstStyle/>
          <a:p>
            <a:pPr marL="0" indent="0">
              <a:buNone/>
            </a:pPr>
            <a:r>
              <a:rPr lang="en-US" sz="3800" b="1" dirty="0">
                <a:solidFill>
                  <a:srgbClr val="FFFFFF"/>
                </a:solidFill>
                <a:latin typeface="Cambria" pitchFamily="34" charset="0"/>
                <a:ea typeface="Cambria" pitchFamily="34" charset="-122"/>
                <a:cs typeface="Cambria" pitchFamily="34" charset="-120"/>
              </a:rPr>
              <a:t>Online Shopping System</a:t>
            </a:r>
            <a:endParaRPr lang="en-US" sz="3800" dirty="0"/>
          </a:p>
        </p:txBody>
      </p:sp>
      <p:sp>
        <p:nvSpPr>
          <p:cNvPr id="4" name="Text 2"/>
          <p:cNvSpPr txBox="1"/>
          <p:nvPr/>
        </p:nvSpPr>
        <p:spPr>
          <a:xfrm>
            <a:off x="548640" y="2121408"/>
            <a:ext cx="4937760" cy="411480"/>
          </a:xfrm>
          <a:prstGeom prst="rect">
            <a:avLst/>
          </a:prstGeom>
          <a:noFill/>
          <a:ln/>
        </p:spPr>
        <p:txBody>
          <a:bodyPr wrap="square" lIns="0" tIns="0" rIns="0" bIns="0" rtlCol="0" anchor="ctr"/>
          <a:lstStyle/>
          <a:p>
            <a:pPr marL="0" indent="0">
              <a:buNone/>
            </a:pPr>
            <a:r>
              <a:rPr lang="en-US" sz="1800" dirty="0">
                <a:solidFill>
                  <a:srgbClr val="E07A2F"/>
                </a:solidFill>
                <a:latin typeface="Calibri" pitchFamily="34" charset="0"/>
                <a:ea typeface="Calibri" pitchFamily="34" charset="-122"/>
                <a:cs typeface="Calibri" pitchFamily="34" charset="-120"/>
              </a:rPr>
              <a:t>Coursework Presentation</a:t>
            </a:r>
            <a:endParaRPr lang="en-US" sz="1800" dirty="0"/>
          </a:p>
        </p:txBody>
      </p:sp>
      <p:sp>
        <p:nvSpPr>
          <p:cNvPr id="5" name="Text 3"/>
          <p:cNvSpPr txBox="1"/>
          <p:nvPr/>
        </p:nvSpPr>
        <p:spPr>
          <a:xfrm>
            <a:off x="548640" y="2514600"/>
            <a:ext cx="4937760" cy="320040"/>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Object-Oriented Design and Implementation in Python</a:t>
            </a:r>
            <a:endParaRPr lang="en-US" sz="1200" dirty="0"/>
          </a:p>
        </p:txBody>
      </p:sp>
      <p:sp>
        <p:nvSpPr>
          <p:cNvPr id="6" name="Text 4"/>
          <p:cNvSpPr txBox="1"/>
          <p:nvPr/>
        </p:nvSpPr>
        <p:spPr>
          <a:xfrm>
            <a:off x="548640" y="3291840"/>
            <a:ext cx="4572000" cy="868680"/>
          </a:xfrm>
          <a:prstGeom prst="rect">
            <a:avLst/>
          </a:prstGeom>
          <a:noFill/>
          <a:ln/>
        </p:spPr>
        <p:txBody>
          <a:bodyPr wrap="square" lIns="0" tIns="0" rIns="0" bIns="0" rtlCol="0" anchor="t"/>
          <a:lstStyle/>
          <a:p>
            <a:pPr marL="0" indent="0">
              <a:spcAft>
                <a:spcPts val="300"/>
              </a:spcAft>
              <a:buNone/>
            </a:pPr>
            <a:r>
              <a:rPr lang="tr-TR" sz="1300" b="1" dirty="0">
                <a:solidFill>
                  <a:srgbClr val="FFFFFF"/>
                </a:solidFill>
                <a:latin typeface="Calibri" pitchFamily="34" charset="0"/>
                <a:ea typeface="Calibri" pitchFamily="34" charset="-122"/>
                <a:cs typeface="Calibri" pitchFamily="34" charset="-120"/>
              </a:rPr>
              <a:t>Rojbin </a:t>
            </a:r>
            <a:r>
              <a:rPr lang="tr-TR" sz="1300" b="1">
                <a:solidFill>
                  <a:srgbClr val="FFFFFF"/>
                </a:solidFill>
                <a:latin typeface="Calibri" pitchFamily="34" charset="0"/>
                <a:ea typeface="Calibri" pitchFamily="34" charset="-122"/>
                <a:cs typeface="Calibri" pitchFamily="34" charset="-120"/>
              </a:rPr>
              <a:t>Karakoc Celik</a:t>
            </a:r>
            <a:endParaRPr lang="en-US" sz="1300" dirty="0"/>
          </a:p>
          <a:p>
            <a:pPr marL="0" indent="0">
              <a:spcAft>
                <a:spcPts val="300"/>
              </a:spcAft>
              <a:buNone/>
            </a:pPr>
            <a:r>
              <a:rPr lang="en-US" sz="1300" dirty="0">
                <a:solidFill>
                  <a:srgbClr val="FFFFFF"/>
                </a:solidFill>
                <a:latin typeface="Calibri" pitchFamily="34" charset="0"/>
                <a:ea typeface="Calibri" pitchFamily="34" charset="-122"/>
                <a:cs typeface="Calibri" pitchFamily="34" charset="-120"/>
              </a:rPr>
              <a:t>Student ID: </a:t>
            </a:r>
            <a:r>
              <a:rPr lang="tr-TR" sz="1300" dirty="0">
                <a:solidFill>
                  <a:srgbClr val="FFFFFF"/>
                </a:solidFill>
                <a:latin typeface="Calibri" pitchFamily="34" charset="0"/>
                <a:ea typeface="Calibri" pitchFamily="34" charset="-122"/>
                <a:cs typeface="Calibri" pitchFamily="34" charset="-120"/>
              </a:rPr>
              <a:t>42372</a:t>
            </a:r>
            <a:endParaRPr lang="en-US" sz="1300" dirty="0"/>
          </a:p>
          <a:p>
            <a:pPr marL="0" indent="0">
              <a:spcAft>
                <a:spcPts val="300"/>
              </a:spcAft>
              <a:buNone/>
            </a:pPr>
            <a:r>
              <a:rPr lang="en-US" sz="1300" dirty="0">
                <a:solidFill>
                  <a:srgbClr val="FFFFFF"/>
                </a:solidFill>
                <a:latin typeface="Calibri" pitchFamily="34" charset="0"/>
                <a:ea typeface="Calibri" pitchFamily="34" charset="-122"/>
                <a:cs typeface="Calibri" pitchFamily="34" charset="-120"/>
              </a:rPr>
              <a:t>31 August 2026</a:t>
            </a:r>
            <a:endParaRPr lang="en-US" sz="1300" dirty="0"/>
          </a:p>
        </p:txBody>
      </p:sp>
      <p:sp>
        <p:nvSpPr>
          <p:cNvPr id="7" name="Shape 5"/>
          <p:cNvSpPr/>
          <p:nvPr/>
        </p:nvSpPr>
        <p:spPr>
          <a:xfrm>
            <a:off x="5760720" y="1005840"/>
            <a:ext cx="2926080" cy="3154680"/>
          </a:xfrm>
          <a:prstGeom prst="roundRect">
            <a:avLst>
              <a:gd name="adj" fmla="val 3125"/>
            </a:avLst>
          </a:prstGeom>
          <a:solidFill>
            <a:srgbClr val="2B3A5C"/>
          </a:solidFill>
          <a:ln w="12700">
            <a:solidFill>
              <a:srgbClr val="2B3A5C"/>
            </a:solidFill>
            <a:prstDash val="solid"/>
          </a:ln>
        </p:spPr>
        <p:txBody>
          <a:bodyPr/>
          <a:lstStyle/>
          <a:p>
            <a:endParaRPr lang="tr-TR"/>
          </a:p>
        </p:txBody>
      </p:sp>
      <p:sp>
        <p:nvSpPr>
          <p:cNvPr id="8" name="Text 6"/>
          <p:cNvSpPr txBox="1"/>
          <p:nvPr/>
        </p:nvSpPr>
        <p:spPr>
          <a:xfrm>
            <a:off x="5989320" y="1143000"/>
            <a:ext cx="2560320" cy="320040"/>
          </a:xfrm>
          <a:prstGeom prst="rect">
            <a:avLst/>
          </a:prstGeom>
          <a:noFill/>
          <a:ln/>
        </p:spPr>
        <p:txBody>
          <a:bodyPr wrap="square" lIns="0" tIns="0" rIns="0" bIns="0" rtlCol="0" anchor="ctr"/>
          <a:lstStyle/>
          <a:p>
            <a:pPr marL="0" indent="0">
              <a:buNone/>
            </a:pPr>
            <a:r>
              <a:rPr lang="en-US" sz="1300" b="1" dirty="0">
                <a:solidFill>
                  <a:srgbClr val="E07A2F"/>
                </a:solidFill>
                <a:latin typeface="Calibri" pitchFamily="34" charset="0"/>
                <a:ea typeface="Calibri" pitchFamily="34" charset="-122"/>
                <a:cs typeface="Calibri" pitchFamily="34" charset="-120"/>
              </a:rPr>
              <a:t>Objectives</a:t>
            </a:r>
            <a:endParaRPr lang="en-US" sz="1300" dirty="0"/>
          </a:p>
        </p:txBody>
      </p:sp>
      <p:sp>
        <p:nvSpPr>
          <p:cNvPr id="9" name="Text 7"/>
          <p:cNvSpPr txBox="1"/>
          <p:nvPr/>
        </p:nvSpPr>
        <p:spPr>
          <a:xfrm>
            <a:off x="5989320" y="1508760"/>
            <a:ext cx="2560320" cy="256032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Model products, customers and orders as an object-oriented system</a:t>
            </a:r>
            <a:endParaRPr lang="en-US" sz="1150" dirty="0"/>
          </a:p>
          <a:p>
            <a:pPr marL="152400" indent="-152400">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Apply classes and objects, inheritance and polymorphism, encapsulation and abstraction to a real requirement</a:t>
            </a:r>
            <a:endParaRPr lang="en-US" sz="1150" dirty="0"/>
          </a:p>
          <a:p>
            <a:pPr marL="152400" indent="-152400">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Critically evaluate the design: strengths, limitations, alternatives and scalability</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138160" y="4773168"/>
            <a:ext cx="640080" cy="256032"/>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2 / 13</a:t>
            </a:r>
            <a:endParaRPr lang="en-US" sz="900" dirty="0"/>
          </a:p>
        </p:txBody>
      </p:sp>
      <p:sp>
        <p:nvSpPr>
          <p:cNvPr id="3" name="Shape 1"/>
          <p:cNvSpPr/>
          <p:nvPr/>
        </p:nvSpPr>
        <p:spPr>
          <a:xfrm>
            <a:off x="457200" y="292608"/>
            <a:ext cx="1828800" cy="237744"/>
          </a:xfrm>
          <a:prstGeom prst="roundRect">
            <a:avLst>
              <a:gd name="adj" fmla="val 50000"/>
            </a:avLst>
          </a:prstGeom>
          <a:solidFill>
            <a:srgbClr val="E07A2F"/>
          </a:solidFill>
          <a:ln w="12700">
            <a:solidFill>
              <a:srgbClr val="E07A2F"/>
            </a:solidFill>
            <a:prstDash val="solid"/>
          </a:ln>
        </p:spPr>
        <p:txBody>
          <a:bodyPr/>
          <a:lstStyle/>
          <a:p>
            <a:endParaRPr lang="tr-TR"/>
          </a:p>
        </p:txBody>
      </p:sp>
      <p:sp>
        <p:nvSpPr>
          <p:cNvPr id="4" name="Text 2"/>
          <p:cNvSpPr txBox="1"/>
          <p:nvPr/>
        </p:nvSpPr>
        <p:spPr>
          <a:xfrm>
            <a:off x="457200" y="292608"/>
            <a:ext cx="1828800" cy="237744"/>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CLASSES &amp; OBJECTS</a:t>
            </a:r>
            <a:endParaRPr lang="en-US" sz="900" dirty="0"/>
          </a:p>
        </p:txBody>
      </p:sp>
      <p:sp>
        <p:nvSpPr>
          <p:cNvPr id="5" name="Text 3"/>
          <p:cNvSpPr txBox="1"/>
          <p:nvPr/>
        </p:nvSpPr>
        <p:spPr>
          <a:xfrm>
            <a:off x="457200" y="566928"/>
            <a:ext cx="8229600" cy="457200"/>
          </a:xfrm>
          <a:prstGeom prst="rect">
            <a:avLst/>
          </a:prstGeom>
          <a:noFill/>
          <a:ln/>
        </p:spPr>
        <p:txBody>
          <a:bodyPr wrap="square" lIns="0" tIns="0" rIns="0" bIns="0" rtlCol="0" anchor="ctr"/>
          <a:lstStyle/>
          <a:p>
            <a:pPr marL="0" indent="0">
              <a:buNone/>
            </a:pPr>
            <a:r>
              <a:rPr lang="en-US" sz="2600" b="1" dirty="0">
                <a:solidFill>
                  <a:srgbClr val="1F2A44"/>
                </a:solidFill>
                <a:latin typeface="Cambria" pitchFamily="34" charset="0"/>
                <a:ea typeface="Cambria" pitchFamily="34" charset="-122"/>
                <a:cs typeface="Cambria" pitchFamily="34" charset="-120"/>
              </a:rPr>
              <a:t>Defining Classes and Objects</a:t>
            </a:r>
            <a:endParaRPr lang="en-US" sz="2600" dirty="0"/>
          </a:p>
        </p:txBody>
      </p:sp>
      <p:sp>
        <p:nvSpPr>
          <p:cNvPr id="6" name="Text 4"/>
          <p:cNvSpPr txBox="1"/>
          <p:nvPr/>
        </p:nvSpPr>
        <p:spPr>
          <a:xfrm>
            <a:off x="457200" y="1143000"/>
            <a:ext cx="3520440" cy="2514600"/>
          </a:xfrm>
          <a:prstGeom prst="rect">
            <a:avLst/>
          </a:prstGeom>
          <a:noFill/>
          <a:ln/>
        </p:spPr>
        <p:txBody>
          <a:bodyPr wrap="square" lIns="25400" tIns="25400" rIns="25400" bIns="25400" rtlCol="0" anchor="t"/>
          <a:lstStyle/>
          <a:p>
            <a:pPr marL="152400" indent="-152400">
              <a:spcAft>
                <a:spcPts val="600"/>
              </a:spcAft>
              <a:buSzPct val="100000"/>
              <a:buChar char="•"/>
            </a:pPr>
            <a:r>
              <a:rPr lang="en-US" sz="1250" dirty="0">
                <a:solidFill>
                  <a:srgbClr val="1F2A44"/>
                </a:solidFill>
                <a:latin typeface="Calibri" pitchFamily="34" charset="0"/>
                <a:ea typeface="Calibri" pitchFamily="34" charset="-122"/>
                <a:cs typeface="Calibri" pitchFamily="34" charset="-120"/>
              </a:rPr>
              <a:t>A class is a blueprint; an object is a live instance that owns its own state</a:t>
            </a:r>
            <a:endParaRPr lang="en-US" sz="1250" dirty="0"/>
          </a:p>
          <a:p>
            <a:pPr marL="152400" indent="-152400">
              <a:spcAft>
                <a:spcPts val="600"/>
              </a:spcAft>
              <a:buSzPct val="100000"/>
              <a:buChar char="•"/>
            </a:pPr>
            <a:r>
              <a:rPr lang="en-US" sz="1250" dirty="0">
                <a:solidFill>
                  <a:srgbClr val="1F2A44"/>
                </a:solidFill>
                <a:latin typeface="Calibri" pitchFamily="34" charset="0"/>
                <a:ea typeface="Calibri" pitchFamily="34" charset="-122"/>
                <a:cs typeface="Calibri" pitchFamily="34" charset="-120"/>
              </a:rPr>
              <a:t>Three domain entities: Product (catalogue item), Customer (buyer), Order (the transaction that links them)</a:t>
            </a:r>
            <a:endParaRPr lang="en-US" sz="1250" dirty="0"/>
          </a:p>
          <a:p>
            <a:pPr marL="152400" indent="-152400">
              <a:spcAft>
                <a:spcPts val="600"/>
              </a:spcAft>
              <a:buSzPct val="100000"/>
              <a:buChar char="•"/>
            </a:pPr>
            <a:r>
              <a:rPr lang="en-US" sz="1250" dirty="0">
                <a:solidFill>
                  <a:srgbClr val="1F2A44"/>
                </a:solidFill>
                <a:latin typeface="Calibri" pitchFamily="34" charset="0"/>
                <a:ea typeface="Calibri" pitchFamily="34" charset="-122"/>
                <a:cs typeface="Calibri" pitchFamily="34" charset="-120"/>
              </a:rPr>
              <a:t>Order references Product objects rather than copying their data, so there is one source of truth for price and stock</a:t>
            </a:r>
            <a:endParaRPr lang="en-US" sz="1250" dirty="0"/>
          </a:p>
          <a:p>
            <a:pPr marL="152400" indent="-152400">
              <a:spcAft>
                <a:spcPts val="600"/>
              </a:spcAft>
              <a:buSzPct val="100000"/>
              <a:buChar char="•"/>
            </a:pPr>
            <a:r>
              <a:rPr lang="en-US" sz="1250" dirty="0">
                <a:solidFill>
                  <a:srgbClr val="1F2A44"/>
                </a:solidFill>
                <a:latin typeface="Calibri" pitchFamily="34" charset="0"/>
                <a:ea typeface="Calibri" pitchFamily="34" charset="-122"/>
                <a:cs typeface="Calibri" pitchFamily="34" charset="-120"/>
              </a:rPr>
              <a:t>Each class maps to one noun in the requirement, which keeps responsibilities small and testable</a:t>
            </a:r>
            <a:endParaRPr lang="en-US" sz="1250" dirty="0"/>
          </a:p>
        </p:txBody>
      </p:sp>
      <p:sp>
        <p:nvSpPr>
          <p:cNvPr id="7" name="Shape 5"/>
          <p:cNvSpPr/>
          <p:nvPr/>
        </p:nvSpPr>
        <p:spPr>
          <a:xfrm>
            <a:off x="457200" y="3749040"/>
            <a:ext cx="3520440" cy="914400"/>
          </a:xfrm>
          <a:prstGeom prst="roundRect">
            <a:avLst>
              <a:gd name="adj" fmla="val 8000"/>
            </a:avLst>
          </a:prstGeom>
          <a:solidFill>
            <a:srgbClr val="FDF1E7"/>
          </a:solidFill>
          <a:ln w="12700">
            <a:solidFill>
              <a:srgbClr val="FDF1E7"/>
            </a:solidFill>
            <a:prstDash val="solid"/>
          </a:ln>
        </p:spPr>
        <p:txBody>
          <a:bodyPr/>
          <a:lstStyle/>
          <a:p>
            <a:endParaRPr lang="tr-TR"/>
          </a:p>
        </p:txBody>
      </p:sp>
      <p:sp>
        <p:nvSpPr>
          <p:cNvPr id="8" name="Text 6"/>
          <p:cNvSpPr txBox="1"/>
          <p:nvPr/>
        </p:nvSpPr>
        <p:spPr>
          <a:xfrm>
            <a:off x="566928" y="3803904"/>
            <a:ext cx="3300984" cy="804672"/>
          </a:xfrm>
          <a:prstGeom prst="rect">
            <a:avLst/>
          </a:prstGeom>
          <a:noFill/>
          <a:ln/>
        </p:spPr>
        <p:txBody>
          <a:bodyPr wrap="square" lIns="0" tIns="0" rIns="0" bIns="0" rtlCol="0" anchor="t"/>
          <a:lstStyle/>
          <a:p>
            <a:pPr marL="0" indent="0">
              <a:buNone/>
            </a:pPr>
            <a:r>
              <a:rPr lang="en-US" sz="1050" b="1" dirty="0">
                <a:solidFill>
                  <a:srgbClr val="E07A2F"/>
                </a:solidFill>
                <a:latin typeface="Calibri" pitchFamily="34" charset="0"/>
                <a:ea typeface="Calibri" pitchFamily="34" charset="-122"/>
                <a:cs typeface="Calibri" pitchFamily="34" charset="-120"/>
              </a:rPr>
              <a:t>Trade-off  </a:t>
            </a:r>
            <a:r>
              <a:rPr lang="en-US" sz="1050" dirty="0">
                <a:solidFill>
                  <a:srgbClr val="1F2A44"/>
                </a:solidFill>
                <a:latin typeface="Calibri" pitchFamily="34" charset="0"/>
                <a:ea typeface="Calibri" pitchFamily="34" charset="-122"/>
                <a:cs typeface="Calibri" pitchFamily="34" charset="-120"/>
              </a:rPr>
              <a:t>Composition (Order has-a Customer, has-many items) avoids duplicated data, but it ties an Order's lifetime to the Product objects it references. A persisted system would store product IDs instead.</a:t>
            </a:r>
            <a:endParaRPr lang="en-US" sz="1050" dirty="0"/>
          </a:p>
        </p:txBody>
      </p:sp>
      <p:sp>
        <p:nvSpPr>
          <p:cNvPr id="9" name="Shape 7"/>
          <p:cNvSpPr/>
          <p:nvPr/>
        </p:nvSpPr>
        <p:spPr>
          <a:xfrm>
            <a:off x="4206240" y="1143000"/>
            <a:ext cx="4480560" cy="3291840"/>
          </a:xfrm>
          <a:prstGeom prst="roundRect">
            <a:avLst>
              <a:gd name="adj" fmla="val 2222"/>
            </a:avLst>
          </a:prstGeom>
          <a:solidFill>
            <a:srgbClr val="F1F3F6"/>
          </a:solidFill>
          <a:ln w="9525">
            <a:solidFill>
              <a:srgbClr val="DDE1E7"/>
            </a:solidFill>
            <a:prstDash val="solid"/>
          </a:ln>
        </p:spPr>
        <p:txBody>
          <a:bodyPr/>
          <a:lstStyle/>
          <a:p>
            <a:endParaRPr lang="tr-TR"/>
          </a:p>
        </p:txBody>
      </p:sp>
      <p:sp>
        <p:nvSpPr>
          <p:cNvPr id="10" name="Text 8"/>
          <p:cNvSpPr txBox="1"/>
          <p:nvPr/>
        </p:nvSpPr>
        <p:spPr>
          <a:xfrm>
            <a:off x="4315968" y="1216152"/>
            <a:ext cx="4261104" cy="3145536"/>
          </a:xfrm>
          <a:prstGeom prst="rect">
            <a:avLst/>
          </a:prstGeom>
          <a:noFill/>
          <a:ln/>
        </p:spPr>
        <p:txBody>
          <a:bodyPr wrap="square" lIns="0" tIns="0" rIns="0" bIns="0" rtlCol="0" anchor="t"/>
          <a:lstStyle/>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class Product:                 # catalogue item</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def __init__(self, product_id, name, price, stock):</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self._name, self._price = name, price</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self._stock = stock</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class Customer:                # registered buyer</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def __init__(self, customer_id, name, email):</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self._name, self._email = name, email</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self._orders = []</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class Order:                   # the transaction</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def __init__(self, customer):</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self._customer = customer   # has-a Customer</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self._items = []            # (item, qty) pairs</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self._status = "PENDING"</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Objects: concrete instances with their own state</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laptop = Product(1, "Laptop", 999.0, stock=5)</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alice  = Customer(1, "Alice", "alice@example.com")</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order  = Order(alice)</a:t>
            </a:r>
            <a:endParaRPr lang="en-US" sz="950" dirty="0"/>
          </a:p>
        </p:txBody>
      </p:sp>
      <p:sp>
        <p:nvSpPr>
          <p:cNvPr id="11" name="Text 9"/>
          <p:cNvSpPr txBox="1"/>
          <p:nvPr/>
        </p:nvSpPr>
        <p:spPr>
          <a:xfrm>
            <a:off x="4206240" y="4462272"/>
            <a:ext cx="4480560" cy="201168"/>
          </a:xfrm>
          <a:prstGeom prst="rect">
            <a:avLst/>
          </a:prstGeom>
          <a:noFill/>
          <a:ln/>
        </p:spPr>
        <p:txBody>
          <a:bodyPr wrap="square" lIns="0" tIns="0" rIns="0" bIns="0" rtlCol="0" anchor="ctr"/>
          <a:lstStyle/>
          <a:p>
            <a:pPr marL="0" indent="0" algn="r">
              <a:buNone/>
            </a:pPr>
            <a:r>
              <a:rPr lang="en-US" sz="850" i="1" dirty="0">
                <a:solidFill>
                  <a:srgbClr val="5B6577"/>
                </a:solidFill>
                <a:latin typeface="Calibri" pitchFamily="34" charset="0"/>
                <a:ea typeface="Calibri" pitchFamily="34" charset="-122"/>
                <a:cs typeface="Calibri" pitchFamily="34" charset="-120"/>
              </a:rPr>
              <a:t>Simplified skeletons - the full classes appear on slides 3-10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138160" y="4773168"/>
            <a:ext cx="640080" cy="256032"/>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3 / 13</a:t>
            </a:r>
            <a:endParaRPr lang="en-US" sz="900" dirty="0"/>
          </a:p>
        </p:txBody>
      </p:sp>
      <p:sp>
        <p:nvSpPr>
          <p:cNvPr id="3" name="Shape 1"/>
          <p:cNvSpPr/>
          <p:nvPr/>
        </p:nvSpPr>
        <p:spPr>
          <a:xfrm>
            <a:off x="457200" y="292608"/>
            <a:ext cx="1828800" cy="237744"/>
          </a:xfrm>
          <a:prstGeom prst="roundRect">
            <a:avLst>
              <a:gd name="adj" fmla="val 50000"/>
            </a:avLst>
          </a:prstGeom>
          <a:solidFill>
            <a:srgbClr val="E07A2F"/>
          </a:solidFill>
          <a:ln w="12700">
            <a:solidFill>
              <a:srgbClr val="E07A2F"/>
            </a:solidFill>
            <a:prstDash val="solid"/>
          </a:ln>
        </p:spPr>
        <p:txBody>
          <a:bodyPr/>
          <a:lstStyle/>
          <a:p>
            <a:endParaRPr lang="tr-TR"/>
          </a:p>
        </p:txBody>
      </p:sp>
      <p:sp>
        <p:nvSpPr>
          <p:cNvPr id="4" name="Text 2"/>
          <p:cNvSpPr txBox="1"/>
          <p:nvPr/>
        </p:nvSpPr>
        <p:spPr>
          <a:xfrm>
            <a:off x="457200" y="292608"/>
            <a:ext cx="1828800" cy="237744"/>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OBJECT LIFE-CYCLE</a:t>
            </a:r>
            <a:endParaRPr lang="en-US" sz="900" dirty="0"/>
          </a:p>
        </p:txBody>
      </p:sp>
      <p:sp>
        <p:nvSpPr>
          <p:cNvPr id="5" name="Text 3"/>
          <p:cNvSpPr txBox="1"/>
          <p:nvPr/>
        </p:nvSpPr>
        <p:spPr>
          <a:xfrm>
            <a:off x="457200" y="566928"/>
            <a:ext cx="8229600" cy="457200"/>
          </a:xfrm>
          <a:prstGeom prst="rect">
            <a:avLst/>
          </a:prstGeom>
          <a:noFill/>
          <a:ln/>
        </p:spPr>
        <p:txBody>
          <a:bodyPr wrap="square" lIns="0" tIns="0" rIns="0" bIns="0" rtlCol="0" anchor="ctr"/>
          <a:lstStyle/>
          <a:p>
            <a:pPr marL="0" indent="0">
              <a:buNone/>
            </a:pPr>
            <a:r>
              <a:rPr lang="en-US" sz="2600" b="1" dirty="0">
                <a:solidFill>
                  <a:srgbClr val="1F2A44"/>
                </a:solidFill>
                <a:latin typeface="Cambria" pitchFamily="34" charset="0"/>
                <a:ea typeface="Cambria" pitchFamily="34" charset="-122"/>
                <a:cs typeface="Cambria" pitchFamily="34" charset="-120"/>
              </a:rPr>
              <a:t>Constructors and Destructors</a:t>
            </a:r>
            <a:endParaRPr lang="en-US" sz="2600" dirty="0"/>
          </a:p>
        </p:txBody>
      </p:sp>
      <p:sp>
        <p:nvSpPr>
          <p:cNvPr id="6" name="Text 4"/>
          <p:cNvSpPr txBox="1"/>
          <p:nvPr/>
        </p:nvSpPr>
        <p:spPr>
          <a:xfrm>
            <a:off x="457200" y="1097280"/>
            <a:ext cx="4023360" cy="256032"/>
          </a:xfrm>
          <a:prstGeom prst="rect">
            <a:avLst/>
          </a:prstGeom>
          <a:noFill/>
          <a:ln/>
        </p:spPr>
        <p:txBody>
          <a:bodyPr wrap="square" lIns="0" tIns="0" rIns="0" bIns="0" rtlCol="0" anchor="ctr"/>
          <a:lstStyle/>
          <a:p>
            <a:pPr marL="0" indent="0">
              <a:buNone/>
            </a:pPr>
            <a:r>
              <a:rPr lang="en-US" sz="1200" b="1" dirty="0">
                <a:solidFill>
                  <a:srgbClr val="2A9D8F"/>
                </a:solidFill>
                <a:latin typeface="Calibri" pitchFamily="34" charset="0"/>
                <a:ea typeface="Calibri" pitchFamily="34" charset="-122"/>
                <a:cs typeface="Calibri" pitchFamily="34" charset="-120"/>
              </a:rPr>
              <a:t>Constructor  __init__</a:t>
            </a:r>
            <a:endParaRPr lang="en-US" sz="1200" dirty="0"/>
          </a:p>
        </p:txBody>
      </p:sp>
      <p:sp>
        <p:nvSpPr>
          <p:cNvPr id="7" name="Shape 5"/>
          <p:cNvSpPr/>
          <p:nvPr/>
        </p:nvSpPr>
        <p:spPr>
          <a:xfrm>
            <a:off x="457200" y="1371600"/>
            <a:ext cx="4023360" cy="1691640"/>
          </a:xfrm>
          <a:prstGeom prst="roundRect">
            <a:avLst>
              <a:gd name="adj" fmla="val 4324"/>
            </a:avLst>
          </a:prstGeom>
          <a:solidFill>
            <a:srgbClr val="F1F3F6"/>
          </a:solidFill>
          <a:ln w="9525">
            <a:solidFill>
              <a:srgbClr val="DDE1E7"/>
            </a:solidFill>
            <a:prstDash val="solid"/>
          </a:ln>
        </p:spPr>
        <p:txBody>
          <a:bodyPr/>
          <a:lstStyle/>
          <a:p>
            <a:endParaRPr lang="tr-TR"/>
          </a:p>
        </p:txBody>
      </p:sp>
      <p:sp>
        <p:nvSpPr>
          <p:cNvPr id="8" name="Text 6"/>
          <p:cNvSpPr txBox="1"/>
          <p:nvPr/>
        </p:nvSpPr>
        <p:spPr>
          <a:xfrm>
            <a:off x="566928" y="1444752"/>
            <a:ext cx="3803904" cy="1545336"/>
          </a:xfrm>
          <a:prstGeom prst="rect">
            <a:avLst/>
          </a:prstGeom>
          <a:noFill/>
          <a:ln/>
        </p:spPr>
        <p:txBody>
          <a:bodyPr wrap="square" lIns="0" tIns="0" rIns="0" bIns="0" rtlCol="0" anchor="t"/>
          <a:lstStyle/>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class Product(Orderable):</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def __init__(self, product_id, name, price, stock):</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 validate first: never start invalid</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if price &lt; 0:</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raise ValueError("Price cannot be negative")</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if stock &lt; 0:</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raise ValueError("Stock cannot be negative")</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self.__product_id = product_id</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self._name, self._price = name, price</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self._stock = stock</a:t>
            </a:r>
            <a:endParaRPr lang="en-US" sz="850" dirty="0"/>
          </a:p>
        </p:txBody>
      </p:sp>
      <p:sp>
        <p:nvSpPr>
          <p:cNvPr id="9" name="Text 7"/>
          <p:cNvSpPr txBox="1"/>
          <p:nvPr/>
        </p:nvSpPr>
        <p:spPr>
          <a:xfrm>
            <a:off x="457200" y="3154680"/>
            <a:ext cx="4023360" cy="1463040"/>
          </a:xfrm>
          <a:prstGeom prst="rect">
            <a:avLst/>
          </a:prstGeom>
          <a:noFill/>
          <a:ln/>
        </p:spPr>
        <p:txBody>
          <a:bodyPr wrap="square" lIns="25400" tIns="25400" rIns="25400" bIns="25400" rtlCol="0" anchor="t"/>
          <a:lstStyle/>
          <a:p>
            <a:pPr marL="152400" indent="-152400">
              <a:spcAft>
                <a:spcPts val="600"/>
              </a:spcAft>
              <a:buSzPct val="100000"/>
              <a:buChar char="•"/>
            </a:pPr>
            <a:r>
              <a:rPr lang="en-US" sz="1150" dirty="0">
                <a:solidFill>
                  <a:srgbClr val="1F2A44"/>
                </a:solidFill>
                <a:latin typeface="Calibri" pitchFamily="34" charset="0"/>
                <a:ea typeface="Calibri" pitchFamily="34" charset="-122"/>
                <a:cs typeface="Calibri" pitchFamily="34" charset="-120"/>
              </a:rPr>
              <a:t>Runs automatically on creation and establishes every invariant</a:t>
            </a:r>
            <a:endParaRPr lang="en-US" sz="1150" dirty="0"/>
          </a:p>
          <a:p>
            <a:pPr marL="152400" indent="-152400">
              <a:spcAft>
                <a:spcPts val="600"/>
              </a:spcAft>
              <a:buSzPct val="100000"/>
              <a:buChar char="•"/>
            </a:pPr>
            <a:r>
              <a:rPr lang="en-US" sz="1150" dirty="0">
                <a:solidFill>
                  <a:srgbClr val="1F2A44"/>
                </a:solidFill>
                <a:latin typeface="Calibri" pitchFamily="34" charset="0"/>
                <a:ea typeface="Calibri" pitchFamily="34" charset="-122"/>
                <a:cs typeface="Calibri" pitchFamily="34" charset="-120"/>
              </a:rPr>
              <a:t>Validation in the constructor means no code path can produce a Product with negative price or stock</a:t>
            </a:r>
            <a:endParaRPr lang="en-US" sz="1150" dirty="0"/>
          </a:p>
        </p:txBody>
      </p:sp>
      <p:sp>
        <p:nvSpPr>
          <p:cNvPr id="10" name="Text 8"/>
          <p:cNvSpPr txBox="1"/>
          <p:nvPr/>
        </p:nvSpPr>
        <p:spPr>
          <a:xfrm>
            <a:off x="4663440" y="1097280"/>
            <a:ext cx="4023360" cy="256032"/>
          </a:xfrm>
          <a:prstGeom prst="rect">
            <a:avLst/>
          </a:prstGeom>
          <a:noFill/>
          <a:ln/>
        </p:spPr>
        <p:txBody>
          <a:bodyPr wrap="square" lIns="0" tIns="0" rIns="0" bIns="0" rtlCol="0" anchor="ctr"/>
          <a:lstStyle/>
          <a:p>
            <a:pPr marL="0" indent="0">
              <a:buNone/>
            </a:pPr>
            <a:r>
              <a:rPr lang="en-US" sz="1200" b="1" dirty="0">
                <a:solidFill>
                  <a:srgbClr val="2A9D8F"/>
                </a:solidFill>
                <a:latin typeface="Calibri" pitchFamily="34" charset="0"/>
                <a:ea typeface="Calibri" pitchFamily="34" charset="-122"/>
                <a:cs typeface="Calibri" pitchFamily="34" charset="-120"/>
              </a:rPr>
              <a:t>Destructor  __del__</a:t>
            </a:r>
            <a:endParaRPr lang="en-US" sz="1200" dirty="0"/>
          </a:p>
        </p:txBody>
      </p:sp>
      <p:sp>
        <p:nvSpPr>
          <p:cNvPr id="11" name="Shape 9"/>
          <p:cNvSpPr/>
          <p:nvPr/>
        </p:nvSpPr>
        <p:spPr>
          <a:xfrm>
            <a:off x="4663440" y="1371600"/>
            <a:ext cx="4023360" cy="1371600"/>
          </a:xfrm>
          <a:prstGeom prst="roundRect">
            <a:avLst>
              <a:gd name="adj" fmla="val 5333"/>
            </a:avLst>
          </a:prstGeom>
          <a:solidFill>
            <a:srgbClr val="F1F3F6"/>
          </a:solidFill>
          <a:ln w="9525">
            <a:solidFill>
              <a:srgbClr val="DDE1E7"/>
            </a:solidFill>
            <a:prstDash val="solid"/>
          </a:ln>
        </p:spPr>
        <p:txBody>
          <a:bodyPr/>
          <a:lstStyle/>
          <a:p>
            <a:endParaRPr lang="tr-TR"/>
          </a:p>
        </p:txBody>
      </p:sp>
      <p:sp>
        <p:nvSpPr>
          <p:cNvPr id="12" name="Text 10"/>
          <p:cNvSpPr txBox="1"/>
          <p:nvPr/>
        </p:nvSpPr>
        <p:spPr>
          <a:xfrm>
            <a:off x="4773168" y="1444752"/>
            <a:ext cx="3803904" cy="1225296"/>
          </a:xfrm>
          <a:prstGeom prst="rect">
            <a:avLst/>
          </a:prstGeom>
          <a:noFill/>
          <a:ln/>
        </p:spPr>
        <p:txBody>
          <a:bodyPr wrap="square" lIns="0" tIns="0" rIns="0" bIns="0" rtlCol="0" anchor="t"/>
          <a:lstStyle/>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class Order:</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def __del__(self):</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"""Runs when the garbage collector</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frees the object. Safety net only."""</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if self._status == "PENDING" and self._items:</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print(f"[GC] Order #{self._order_id} "</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"discarded -&gt; releasing stock")</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self.cancel()</a:t>
            </a:r>
            <a:endParaRPr lang="en-US" sz="850" dirty="0"/>
          </a:p>
        </p:txBody>
      </p:sp>
      <p:sp>
        <p:nvSpPr>
          <p:cNvPr id="13" name="Shape 11"/>
          <p:cNvSpPr/>
          <p:nvPr/>
        </p:nvSpPr>
        <p:spPr>
          <a:xfrm>
            <a:off x="4663440" y="2816352"/>
            <a:ext cx="4023360" cy="777240"/>
          </a:xfrm>
          <a:prstGeom prst="roundRect">
            <a:avLst>
              <a:gd name="adj" fmla="val 9412"/>
            </a:avLst>
          </a:prstGeom>
          <a:solidFill>
            <a:srgbClr val="1F2A44"/>
          </a:solidFill>
          <a:ln w="12700">
            <a:solidFill>
              <a:srgbClr val="1F2A44"/>
            </a:solidFill>
            <a:prstDash val="solid"/>
          </a:ln>
        </p:spPr>
        <p:txBody>
          <a:bodyPr/>
          <a:lstStyle/>
          <a:p>
            <a:endParaRPr lang="tr-TR"/>
          </a:p>
        </p:txBody>
      </p:sp>
      <p:sp>
        <p:nvSpPr>
          <p:cNvPr id="14" name="Text 12"/>
          <p:cNvSpPr txBox="1"/>
          <p:nvPr/>
        </p:nvSpPr>
        <p:spPr>
          <a:xfrm>
            <a:off x="4773168" y="2862072"/>
            <a:ext cx="914400" cy="164592"/>
          </a:xfrm>
          <a:prstGeom prst="rect">
            <a:avLst/>
          </a:prstGeom>
          <a:noFill/>
          <a:ln/>
        </p:spPr>
        <p:txBody>
          <a:bodyPr wrap="square" lIns="0" tIns="0" rIns="0" bIns="0" rtlCol="0" anchor="ctr"/>
          <a:lstStyle/>
          <a:p>
            <a:pPr marL="0" indent="0">
              <a:buNone/>
            </a:pPr>
            <a:r>
              <a:rPr lang="en-US" sz="800" i="1" dirty="0">
                <a:solidFill>
                  <a:srgbClr val="CADCFC"/>
                </a:solidFill>
                <a:latin typeface="Calibri" pitchFamily="34" charset="0"/>
                <a:ea typeface="Calibri" pitchFamily="34" charset="-122"/>
                <a:cs typeface="Calibri" pitchFamily="34" charset="-120"/>
              </a:rPr>
              <a:t>output</a:t>
            </a:r>
            <a:endParaRPr lang="en-US" sz="800" dirty="0"/>
          </a:p>
        </p:txBody>
      </p:sp>
      <p:sp>
        <p:nvSpPr>
          <p:cNvPr id="15" name="Text 13"/>
          <p:cNvSpPr txBox="1"/>
          <p:nvPr/>
        </p:nvSpPr>
        <p:spPr>
          <a:xfrm>
            <a:off x="4773168" y="3035808"/>
            <a:ext cx="3803904" cy="502920"/>
          </a:xfrm>
          <a:prstGeom prst="rect">
            <a:avLst/>
          </a:prstGeom>
          <a:noFill/>
          <a:ln/>
        </p:spPr>
        <p:txBody>
          <a:bodyPr wrap="square" lIns="0" tIns="0" rIns="0" bIns="0" rtlCol="0" anchor="t"/>
          <a:lstStyle/>
          <a:p>
            <a:pPr marL="0" indent="0">
              <a:lnSpc>
                <a:spcPct val="105000"/>
              </a:lnSpc>
              <a:buNone/>
            </a:pPr>
            <a:r>
              <a:rPr lang="en-US" sz="800" dirty="0">
                <a:solidFill>
                  <a:srgbClr val="FFFFFF"/>
                </a:solidFill>
                <a:latin typeface="Courier New" pitchFamily="34" charset="0"/>
                <a:ea typeface="Courier New" pitchFamily="34" charset="-122"/>
                <a:cs typeface="Courier New" pitchFamily="34" charset="-120"/>
              </a:rPr>
              <a:t>Mouse stock while pending: 45</a:t>
            </a:r>
            <a:endParaRPr lang="en-US" sz="800" dirty="0"/>
          </a:p>
          <a:p>
            <a:pPr marL="0" indent="0">
              <a:lnSpc>
                <a:spcPct val="105000"/>
              </a:lnSpc>
              <a:buNone/>
            </a:pPr>
            <a:r>
              <a:rPr lang="en-US" sz="800" dirty="0">
                <a:solidFill>
                  <a:srgbClr val="FFFFFF"/>
                </a:solidFill>
                <a:latin typeface="Courier New" pitchFamily="34" charset="0"/>
                <a:ea typeface="Courier New" pitchFamily="34" charset="-122"/>
                <a:cs typeface="Courier New" pitchFamily="34" charset="-120"/>
              </a:rPr>
              <a:t>[GC] Order #1002 discarded while pending -&gt; releasing stock</a:t>
            </a:r>
            <a:endParaRPr lang="en-US" sz="800" dirty="0"/>
          </a:p>
          <a:p>
            <a:pPr marL="0" indent="0">
              <a:lnSpc>
                <a:spcPct val="105000"/>
              </a:lnSpc>
              <a:buNone/>
            </a:pPr>
            <a:r>
              <a:rPr lang="en-US" sz="800" dirty="0">
                <a:solidFill>
                  <a:srgbClr val="FFFFFF"/>
                </a:solidFill>
                <a:latin typeface="Courier New" pitchFamily="34" charset="0"/>
                <a:ea typeface="Courier New" pitchFamily="34" charset="-122"/>
                <a:cs typeface="Courier New" pitchFamily="34" charset="-120"/>
              </a:rPr>
              <a:t>Mouse stock after GC:     48</a:t>
            </a:r>
            <a:endParaRPr lang="en-US" sz="800" dirty="0"/>
          </a:p>
        </p:txBody>
      </p:sp>
      <p:sp>
        <p:nvSpPr>
          <p:cNvPr id="16" name="Shape 14"/>
          <p:cNvSpPr/>
          <p:nvPr/>
        </p:nvSpPr>
        <p:spPr>
          <a:xfrm>
            <a:off x="4663440" y="3703320"/>
            <a:ext cx="4023360" cy="960120"/>
          </a:xfrm>
          <a:prstGeom prst="roundRect">
            <a:avLst>
              <a:gd name="adj" fmla="val 7619"/>
            </a:avLst>
          </a:prstGeom>
          <a:solidFill>
            <a:srgbClr val="FDF1E7"/>
          </a:solidFill>
          <a:ln w="12700">
            <a:solidFill>
              <a:srgbClr val="FDF1E7"/>
            </a:solidFill>
            <a:prstDash val="solid"/>
          </a:ln>
        </p:spPr>
        <p:txBody>
          <a:bodyPr/>
          <a:lstStyle/>
          <a:p>
            <a:endParaRPr lang="tr-TR"/>
          </a:p>
        </p:txBody>
      </p:sp>
      <p:sp>
        <p:nvSpPr>
          <p:cNvPr id="17" name="Text 15"/>
          <p:cNvSpPr txBox="1"/>
          <p:nvPr/>
        </p:nvSpPr>
        <p:spPr>
          <a:xfrm>
            <a:off x="4773168" y="3758184"/>
            <a:ext cx="3803904" cy="850392"/>
          </a:xfrm>
          <a:prstGeom prst="rect">
            <a:avLst/>
          </a:prstGeom>
          <a:noFill/>
          <a:ln/>
        </p:spPr>
        <p:txBody>
          <a:bodyPr wrap="square" lIns="0" tIns="0" rIns="0" bIns="0" rtlCol="0" anchor="t"/>
          <a:lstStyle/>
          <a:p>
            <a:pPr marL="0" indent="0">
              <a:buNone/>
            </a:pPr>
            <a:r>
              <a:rPr lang="en-US" sz="1000" b="1" dirty="0">
                <a:solidFill>
                  <a:srgbClr val="E07A2F"/>
                </a:solidFill>
                <a:latin typeface="Calibri" pitchFamily="34" charset="0"/>
                <a:ea typeface="Calibri" pitchFamily="34" charset="-122"/>
                <a:cs typeface="Calibri" pitchFamily="34" charset="-120"/>
              </a:rPr>
              <a:t>Evaluation  </a:t>
            </a:r>
            <a:r>
              <a:rPr lang="en-US" sz="1000" dirty="0">
                <a:solidFill>
                  <a:srgbClr val="1F2A44"/>
                </a:solidFill>
                <a:latin typeface="Calibri" pitchFamily="34" charset="0"/>
                <a:ea typeface="Calibri" pitchFamily="34" charset="-122"/>
                <a:cs typeface="Calibri" pitchFamily="34" charset="-120"/>
              </a:rPr>
              <a:t>Python's __del__ is not deterministic: CPython frees on reference count, but objects in cycles wait for the cyclic collector. Explicit cancel() is therefore the real clean-up path; __del__ only illustrates the concept.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138160" y="4773168"/>
            <a:ext cx="640080" cy="256032"/>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4 / 13</a:t>
            </a:r>
            <a:endParaRPr lang="en-US" sz="900" dirty="0"/>
          </a:p>
        </p:txBody>
      </p:sp>
      <p:sp>
        <p:nvSpPr>
          <p:cNvPr id="3" name="Shape 1"/>
          <p:cNvSpPr/>
          <p:nvPr/>
        </p:nvSpPr>
        <p:spPr>
          <a:xfrm>
            <a:off x="457200" y="292608"/>
            <a:ext cx="1920240" cy="237744"/>
          </a:xfrm>
          <a:prstGeom prst="roundRect">
            <a:avLst>
              <a:gd name="adj" fmla="val 50000"/>
            </a:avLst>
          </a:prstGeom>
          <a:solidFill>
            <a:srgbClr val="E07A2F"/>
          </a:solidFill>
          <a:ln w="12700">
            <a:solidFill>
              <a:srgbClr val="E07A2F"/>
            </a:solidFill>
            <a:prstDash val="solid"/>
          </a:ln>
        </p:spPr>
        <p:txBody>
          <a:bodyPr/>
          <a:lstStyle/>
          <a:p>
            <a:endParaRPr lang="tr-TR"/>
          </a:p>
        </p:txBody>
      </p:sp>
      <p:sp>
        <p:nvSpPr>
          <p:cNvPr id="4" name="Text 2"/>
          <p:cNvSpPr txBox="1"/>
          <p:nvPr/>
        </p:nvSpPr>
        <p:spPr>
          <a:xfrm>
            <a:off x="457200" y="292608"/>
            <a:ext cx="1920240" cy="237744"/>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STATE &amp; BEHAVIOUR</a:t>
            </a:r>
            <a:endParaRPr lang="en-US" sz="900" dirty="0"/>
          </a:p>
        </p:txBody>
      </p:sp>
      <p:sp>
        <p:nvSpPr>
          <p:cNvPr id="5" name="Text 3"/>
          <p:cNvSpPr txBox="1"/>
          <p:nvPr/>
        </p:nvSpPr>
        <p:spPr>
          <a:xfrm>
            <a:off x="457200" y="566928"/>
            <a:ext cx="8229600" cy="457200"/>
          </a:xfrm>
          <a:prstGeom prst="rect">
            <a:avLst/>
          </a:prstGeom>
          <a:noFill/>
          <a:ln/>
        </p:spPr>
        <p:txBody>
          <a:bodyPr wrap="square" lIns="0" tIns="0" rIns="0" bIns="0" rtlCol="0" anchor="ctr"/>
          <a:lstStyle/>
          <a:p>
            <a:pPr marL="0" indent="0">
              <a:buNone/>
            </a:pPr>
            <a:r>
              <a:rPr lang="en-US" sz="2600" b="1" dirty="0">
                <a:solidFill>
                  <a:srgbClr val="1F2A44"/>
                </a:solidFill>
                <a:latin typeface="Cambria" pitchFamily="34" charset="0"/>
                <a:ea typeface="Cambria" pitchFamily="34" charset="-122"/>
                <a:cs typeface="Cambria" pitchFamily="34" charset="-120"/>
              </a:rPr>
              <a:t>Class Methods and Instance Variables</a:t>
            </a:r>
            <a:endParaRPr lang="en-US" sz="2600" dirty="0"/>
          </a:p>
        </p:txBody>
      </p:sp>
      <p:sp>
        <p:nvSpPr>
          <p:cNvPr id="6" name="Text 4"/>
          <p:cNvSpPr txBox="1"/>
          <p:nvPr/>
        </p:nvSpPr>
        <p:spPr>
          <a:xfrm>
            <a:off x="457200" y="1143000"/>
            <a:ext cx="3520440" cy="2606040"/>
          </a:xfrm>
          <a:prstGeom prst="rect">
            <a:avLst/>
          </a:prstGeom>
          <a:noFill/>
          <a:ln/>
        </p:spPr>
        <p:txBody>
          <a:bodyPr wrap="square" lIns="25400" tIns="25400" rIns="25400" bIns="25400" rtlCol="0" anchor="t"/>
          <a:lstStyle/>
          <a:p>
            <a:pPr marL="152400" indent="-152400">
              <a:spcAft>
                <a:spcPts val="600"/>
              </a:spcAft>
              <a:buSzPct val="100000"/>
              <a:buChar char="•"/>
            </a:pPr>
            <a:r>
              <a:rPr lang="en-US" sz="1150" dirty="0">
                <a:solidFill>
                  <a:srgbClr val="1F2A44"/>
                </a:solidFill>
                <a:latin typeface="Calibri" pitchFamily="34" charset="0"/>
                <a:ea typeface="Calibri" pitchFamily="34" charset="-122"/>
                <a:cs typeface="Calibri" pitchFamily="34" charset="-120"/>
              </a:rPr>
              <a:t>Instance variables (_items, _status, _order_id) belong to one object</a:t>
            </a:r>
            <a:endParaRPr lang="en-US" sz="1150" dirty="0"/>
          </a:p>
          <a:p>
            <a:pPr marL="152400" indent="-152400">
              <a:spcAft>
                <a:spcPts val="600"/>
              </a:spcAft>
              <a:buSzPct val="100000"/>
              <a:buChar char="•"/>
            </a:pPr>
            <a:r>
              <a:rPr lang="en-US" sz="1150" dirty="0">
                <a:solidFill>
                  <a:srgbClr val="1F2A44"/>
                </a:solidFill>
                <a:latin typeface="Calibri" pitchFamily="34" charset="0"/>
                <a:ea typeface="Calibri" pitchFamily="34" charset="-122"/>
                <a:cs typeface="Calibri" pitchFamily="34" charset="-120"/>
              </a:rPr>
              <a:t>Class variables (_next_id) are shared by every Order - used here as an ID counter</a:t>
            </a:r>
            <a:endParaRPr lang="en-US" sz="1150" dirty="0"/>
          </a:p>
          <a:p>
            <a:pPr marL="152400" indent="-152400">
              <a:spcAft>
                <a:spcPts val="600"/>
              </a:spcAft>
              <a:buSzPct val="100000"/>
              <a:buChar char="•"/>
            </a:pPr>
            <a:r>
              <a:rPr lang="en-US" sz="1150" dirty="0">
                <a:solidFill>
                  <a:srgbClr val="1F2A44"/>
                </a:solidFill>
                <a:latin typeface="Calibri" pitchFamily="34" charset="0"/>
                <a:ea typeface="Calibri" pitchFamily="34" charset="-122"/>
                <a:cs typeface="Calibri" pitchFamily="34" charset="-120"/>
              </a:rPr>
              <a:t>@classmethod from_cart() is an alternative constructor that receives the class, not an instance</a:t>
            </a:r>
            <a:endParaRPr lang="en-US" sz="1150" dirty="0"/>
          </a:p>
          <a:p>
            <a:pPr marL="152400" indent="-152400">
              <a:spcAft>
                <a:spcPts val="600"/>
              </a:spcAft>
              <a:buSzPct val="100000"/>
              <a:buChar char="•"/>
            </a:pPr>
            <a:r>
              <a:rPr lang="en-US" sz="1150" dirty="0">
                <a:solidFill>
                  <a:srgbClr val="1F2A44"/>
                </a:solidFill>
                <a:latin typeface="Calibri" pitchFamily="34" charset="0"/>
                <a:ea typeface="Calibri" pitchFamily="34" charset="-122"/>
                <a:cs typeface="Calibri" pitchFamily="34" charset="-120"/>
              </a:rPr>
              <a:t>add_item() reserves stock before appending, so a failed add leaves the order untouched</a:t>
            </a:r>
            <a:endParaRPr lang="en-US" sz="1150" dirty="0"/>
          </a:p>
          <a:p>
            <a:pPr marL="152400" indent="-152400">
              <a:spcAft>
                <a:spcPts val="600"/>
              </a:spcAft>
              <a:buSzPct val="100000"/>
              <a:buChar char="•"/>
            </a:pPr>
            <a:r>
              <a:rPr lang="en-US" sz="1150" dirty="0">
                <a:solidFill>
                  <a:srgbClr val="1F2A44"/>
                </a:solidFill>
                <a:latin typeface="Calibri" pitchFamily="34" charset="0"/>
                <a:ea typeface="Calibri" pitchFamily="34" charset="-122"/>
                <a:cs typeface="Calibri" pitchFamily="34" charset="-120"/>
              </a:rPr>
              <a:t>total_cost() = subtotal minus the discount the customer object decides</a:t>
            </a:r>
            <a:endParaRPr lang="en-US" sz="1150" dirty="0"/>
          </a:p>
        </p:txBody>
      </p:sp>
      <p:sp>
        <p:nvSpPr>
          <p:cNvPr id="7" name="Shape 5"/>
          <p:cNvSpPr/>
          <p:nvPr/>
        </p:nvSpPr>
        <p:spPr>
          <a:xfrm>
            <a:off x="457200" y="3794760"/>
            <a:ext cx="3520440" cy="868680"/>
          </a:xfrm>
          <a:prstGeom prst="roundRect">
            <a:avLst>
              <a:gd name="adj" fmla="val 8421"/>
            </a:avLst>
          </a:prstGeom>
          <a:solidFill>
            <a:srgbClr val="FDF1E7"/>
          </a:solidFill>
          <a:ln w="12700">
            <a:solidFill>
              <a:srgbClr val="FDF1E7"/>
            </a:solidFill>
            <a:prstDash val="solid"/>
          </a:ln>
        </p:spPr>
        <p:txBody>
          <a:bodyPr/>
          <a:lstStyle/>
          <a:p>
            <a:endParaRPr lang="tr-TR"/>
          </a:p>
        </p:txBody>
      </p:sp>
      <p:sp>
        <p:nvSpPr>
          <p:cNvPr id="8" name="Text 6"/>
          <p:cNvSpPr txBox="1"/>
          <p:nvPr/>
        </p:nvSpPr>
        <p:spPr>
          <a:xfrm>
            <a:off x="566928" y="3849624"/>
            <a:ext cx="3300984" cy="758952"/>
          </a:xfrm>
          <a:prstGeom prst="rect">
            <a:avLst/>
          </a:prstGeom>
          <a:noFill/>
          <a:ln/>
        </p:spPr>
        <p:txBody>
          <a:bodyPr wrap="square" lIns="0" tIns="0" rIns="0" bIns="0" rtlCol="0" anchor="t"/>
          <a:lstStyle/>
          <a:p>
            <a:pPr marL="0" indent="0">
              <a:buNone/>
            </a:pPr>
            <a:r>
              <a:rPr lang="en-US" sz="1000" b="1" dirty="0">
                <a:solidFill>
                  <a:srgbClr val="E07A2F"/>
                </a:solidFill>
                <a:latin typeface="Calibri" pitchFamily="34" charset="0"/>
                <a:ea typeface="Calibri" pitchFamily="34" charset="-122"/>
                <a:cs typeface="Calibri" pitchFamily="34" charset="-120"/>
              </a:rPr>
              <a:t>Trade-off  </a:t>
            </a:r>
            <a:r>
              <a:rPr lang="en-US" sz="1000" dirty="0">
                <a:solidFill>
                  <a:srgbClr val="1F2A44"/>
                </a:solidFill>
                <a:latin typeface="Calibri" pitchFamily="34" charset="0"/>
                <a:ea typeface="Calibri" pitchFamily="34" charset="-122"/>
                <a:cs typeface="Calibri" pitchFamily="34" charset="-120"/>
              </a:rPr>
              <a:t>Stock is decremented when an item is added, not at checkout. Simple and consistent, but an abandoned order holds stock until cancel() runs - a timeout would be needed at scale.</a:t>
            </a:r>
            <a:endParaRPr lang="en-US" sz="1000" dirty="0"/>
          </a:p>
        </p:txBody>
      </p:sp>
      <p:sp>
        <p:nvSpPr>
          <p:cNvPr id="9" name="Shape 7"/>
          <p:cNvSpPr/>
          <p:nvPr/>
        </p:nvSpPr>
        <p:spPr>
          <a:xfrm>
            <a:off x="4206240" y="1143000"/>
            <a:ext cx="4480560" cy="3520440"/>
          </a:xfrm>
          <a:prstGeom prst="roundRect">
            <a:avLst>
              <a:gd name="adj" fmla="val 2078"/>
            </a:avLst>
          </a:prstGeom>
          <a:solidFill>
            <a:srgbClr val="F1F3F6"/>
          </a:solidFill>
          <a:ln w="9525">
            <a:solidFill>
              <a:srgbClr val="DDE1E7"/>
            </a:solidFill>
            <a:prstDash val="solid"/>
          </a:ln>
        </p:spPr>
        <p:txBody>
          <a:bodyPr/>
          <a:lstStyle/>
          <a:p>
            <a:endParaRPr lang="tr-TR"/>
          </a:p>
        </p:txBody>
      </p:sp>
      <p:sp>
        <p:nvSpPr>
          <p:cNvPr id="10" name="Text 8"/>
          <p:cNvSpPr txBox="1"/>
          <p:nvPr/>
        </p:nvSpPr>
        <p:spPr>
          <a:xfrm>
            <a:off x="4315968" y="1216152"/>
            <a:ext cx="4261104" cy="3374136"/>
          </a:xfrm>
          <a:prstGeom prst="rect">
            <a:avLst/>
          </a:prstGeom>
          <a:noFill/>
          <a:ln/>
        </p:spPr>
        <p:txBody>
          <a:bodyPr wrap="square" lIns="0" tIns="0" rIns="0" bIns="0" rtlCol="0" anchor="t"/>
          <a:lstStyle/>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class Order:</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_next_id = 1000                  # class variable</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def __init__(self, customer):</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self._order_id = Order._next_id  # instance var</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Order._next_id += 1</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self._customer, self._items = customer, []</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@classmethod                     # alt. constructor</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def from_cart(cls, customer, cart):</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order = cls(customer)</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for item, qty in cart.lines():</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order.add_item(item, qty)</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cart.clear()</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return order</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def add_item(self, item, quantity=1):</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item.reserve(quantity)   # raises if unavailable</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self._items.append((item, quantity))</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def total_cost(self):</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sub = sum(i.get_price() * q for i, q in self._items)</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disc = self._customer.calculate_discount(sub)</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return round(sub - disc, 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138160" y="4773168"/>
            <a:ext cx="640080" cy="256032"/>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5 / 13</a:t>
            </a:r>
            <a:endParaRPr lang="en-US" sz="900" dirty="0"/>
          </a:p>
        </p:txBody>
      </p:sp>
      <p:sp>
        <p:nvSpPr>
          <p:cNvPr id="3" name="Shape 1"/>
          <p:cNvSpPr/>
          <p:nvPr/>
        </p:nvSpPr>
        <p:spPr>
          <a:xfrm>
            <a:off x="457200" y="292608"/>
            <a:ext cx="1463040" cy="237744"/>
          </a:xfrm>
          <a:prstGeom prst="roundRect">
            <a:avLst>
              <a:gd name="adj" fmla="val 50000"/>
            </a:avLst>
          </a:prstGeom>
          <a:solidFill>
            <a:srgbClr val="E07A2F"/>
          </a:solidFill>
          <a:ln w="12700">
            <a:solidFill>
              <a:srgbClr val="E07A2F"/>
            </a:solidFill>
            <a:prstDash val="solid"/>
          </a:ln>
        </p:spPr>
        <p:txBody>
          <a:bodyPr/>
          <a:lstStyle/>
          <a:p>
            <a:endParaRPr lang="tr-TR"/>
          </a:p>
        </p:txBody>
      </p:sp>
      <p:sp>
        <p:nvSpPr>
          <p:cNvPr id="4" name="Text 2"/>
          <p:cNvSpPr txBox="1"/>
          <p:nvPr/>
        </p:nvSpPr>
        <p:spPr>
          <a:xfrm>
            <a:off x="457200" y="292608"/>
            <a:ext cx="1463040" cy="237744"/>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INHERITANCE</a:t>
            </a:r>
            <a:endParaRPr lang="en-US" sz="900" dirty="0"/>
          </a:p>
        </p:txBody>
      </p:sp>
      <p:sp>
        <p:nvSpPr>
          <p:cNvPr id="5" name="Text 3"/>
          <p:cNvSpPr txBox="1"/>
          <p:nvPr/>
        </p:nvSpPr>
        <p:spPr>
          <a:xfrm>
            <a:off x="457200" y="566928"/>
            <a:ext cx="8229600" cy="457200"/>
          </a:xfrm>
          <a:prstGeom prst="rect">
            <a:avLst/>
          </a:prstGeom>
          <a:noFill/>
          <a:ln/>
        </p:spPr>
        <p:txBody>
          <a:bodyPr wrap="square" lIns="0" tIns="0" rIns="0" bIns="0" rtlCol="0" anchor="ctr"/>
          <a:lstStyle/>
          <a:p>
            <a:pPr marL="0" indent="0">
              <a:buNone/>
            </a:pPr>
            <a:r>
              <a:rPr lang="en-US" sz="2600" b="1" dirty="0">
                <a:solidFill>
                  <a:srgbClr val="1F2A44"/>
                </a:solidFill>
                <a:latin typeface="Cambria" pitchFamily="34" charset="0"/>
                <a:ea typeface="Cambria" pitchFamily="34" charset="-122"/>
                <a:cs typeface="Cambria" pitchFamily="34" charset="-120"/>
              </a:rPr>
              <a:t>Understanding Inheritance Relationships</a:t>
            </a:r>
            <a:endParaRPr lang="en-US" sz="2600" dirty="0"/>
          </a:p>
        </p:txBody>
      </p:sp>
      <p:pic>
        <p:nvPicPr>
          <p:cNvPr id="6" name="Image 0" descr="preencoded.png"/>
          <p:cNvPicPr>
            <a:picLocks noChangeAspect="1"/>
          </p:cNvPicPr>
          <p:nvPr/>
        </p:nvPicPr>
        <p:blipFill>
          <a:blip r:embed="rId3"/>
          <a:stretch>
            <a:fillRect/>
          </a:stretch>
        </p:blipFill>
        <p:spPr>
          <a:xfrm>
            <a:off x="548640" y="1097280"/>
            <a:ext cx="1783080" cy="3566160"/>
          </a:xfrm>
          <a:prstGeom prst="rect">
            <a:avLst/>
          </a:prstGeom>
        </p:spPr>
      </p:pic>
      <p:sp>
        <p:nvSpPr>
          <p:cNvPr id="7" name="Shape 4"/>
          <p:cNvSpPr/>
          <p:nvPr/>
        </p:nvSpPr>
        <p:spPr>
          <a:xfrm>
            <a:off x="2606040" y="1097280"/>
            <a:ext cx="3657600" cy="2788920"/>
          </a:xfrm>
          <a:prstGeom prst="roundRect">
            <a:avLst>
              <a:gd name="adj" fmla="val 2623"/>
            </a:avLst>
          </a:prstGeom>
          <a:solidFill>
            <a:srgbClr val="F1F3F6"/>
          </a:solidFill>
          <a:ln w="9525">
            <a:solidFill>
              <a:srgbClr val="DDE1E7"/>
            </a:solidFill>
            <a:prstDash val="solid"/>
          </a:ln>
        </p:spPr>
        <p:txBody>
          <a:bodyPr/>
          <a:lstStyle/>
          <a:p>
            <a:endParaRPr lang="tr-TR"/>
          </a:p>
        </p:txBody>
      </p:sp>
      <p:sp>
        <p:nvSpPr>
          <p:cNvPr id="8" name="Text 5"/>
          <p:cNvSpPr txBox="1"/>
          <p:nvPr/>
        </p:nvSpPr>
        <p:spPr>
          <a:xfrm>
            <a:off x="2715768" y="1170432"/>
            <a:ext cx="3438144" cy="2642616"/>
          </a:xfrm>
          <a:prstGeom prst="rect">
            <a:avLst/>
          </a:prstGeom>
          <a:noFill/>
          <a:ln/>
        </p:spPr>
        <p:txBody>
          <a:bodyPr wrap="square" lIns="0" tIns="0" rIns="0" bIns="0" rtlCol="0" anchor="t"/>
          <a:lstStyle/>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class Customer(User):</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def __init__(self, customer_id, name, email):</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super().__init__(customer_id, name, email)</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self._orders = []</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def get_role(self):</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return "Customer"</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def calculate_discount(self, subtotal):</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return 0.0                # default: none</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class PremiumCustomer(Customer):  # is-a Customer</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DISCOUNT_RATE = 0.10</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def __init__(self, customer_id, name, email,</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member_since):</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super().__init__(customer_id, name, email)</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self._member_since = member_since</a:t>
            </a:r>
            <a:endParaRPr lang="en-US" sz="850" dirty="0"/>
          </a:p>
        </p:txBody>
      </p:sp>
      <p:sp>
        <p:nvSpPr>
          <p:cNvPr id="9" name="Text 6"/>
          <p:cNvSpPr txBox="1"/>
          <p:nvPr/>
        </p:nvSpPr>
        <p:spPr>
          <a:xfrm>
            <a:off x="6400800" y="1097280"/>
            <a:ext cx="2286000" cy="2788920"/>
          </a:xfrm>
          <a:prstGeom prst="rect">
            <a:avLst/>
          </a:prstGeom>
          <a:noFill/>
          <a:ln/>
        </p:spPr>
        <p:txBody>
          <a:bodyPr wrap="square" lIns="25400" tIns="25400" rIns="25400" bIns="25400" rtlCol="0" anchor="t"/>
          <a:lstStyle/>
          <a:p>
            <a:pPr marL="152400" indent="-152400">
              <a:spcAft>
                <a:spcPts val="600"/>
              </a:spcAft>
              <a:buSzPct val="100000"/>
              <a:buChar char="•"/>
            </a:pPr>
            <a:r>
              <a:rPr lang="en-US" sz="1050" dirty="0">
                <a:solidFill>
                  <a:srgbClr val="1F2A44"/>
                </a:solidFill>
                <a:latin typeface="Calibri" pitchFamily="34" charset="0"/>
                <a:ea typeface="Calibri" pitchFamily="34" charset="-122"/>
                <a:cs typeface="Calibri" pitchFamily="34" charset="-120"/>
              </a:rPr>
              <a:t>PremiumCustomer is-a Customer: it inherits identity, order history and add_order()</a:t>
            </a:r>
            <a:endParaRPr lang="en-US" sz="1050" dirty="0"/>
          </a:p>
          <a:p>
            <a:pPr marL="152400" indent="-152400">
              <a:spcAft>
                <a:spcPts val="600"/>
              </a:spcAft>
              <a:buSzPct val="100000"/>
              <a:buChar char="•"/>
            </a:pPr>
            <a:r>
              <a:rPr lang="en-US" sz="1050" dirty="0">
                <a:solidFill>
                  <a:srgbClr val="1F2A44"/>
                </a:solidFill>
                <a:latin typeface="Calibri" pitchFamily="34" charset="0"/>
                <a:ea typeface="Calibri" pitchFamily="34" charset="-122"/>
                <a:cs typeface="Calibri" pitchFamily="34" charset="-120"/>
              </a:rPr>
              <a:t>super().__init__ reuses the parent constructor, so e-mail validation is written once</a:t>
            </a:r>
            <a:endParaRPr lang="en-US" sz="1050" dirty="0"/>
          </a:p>
          <a:p>
            <a:pPr marL="152400" indent="-152400">
              <a:spcAft>
                <a:spcPts val="600"/>
              </a:spcAft>
              <a:buSzPct val="100000"/>
              <a:buChar char="•"/>
            </a:pPr>
            <a:r>
              <a:rPr lang="en-US" sz="1050" dirty="0">
                <a:solidFill>
                  <a:srgbClr val="1F2A44"/>
                </a:solidFill>
                <a:latin typeface="Calibri" pitchFamily="34" charset="0"/>
                <a:ea typeface="Calibri" pitchFamily="34" charset="-122"/>
                <a:cs typeface="Calibri" pitchFamily="34" charset="-120"/>
              </a:rPr>
              <a:t>A PremiumCustomer is accepted anywhere a Customer is expected</a:t>
            </a:r>
            <a:endParaRPr lang="en-US" sz="1050" dirty="0"/>
          </a:p>
          <a:p>
            <a:pPr marL="152400" indent="-152400">
              <a:spcAft>
                <a:spcPts val="600"/>
              </a:spcAft>
              <a:buSzPct val="100000"/>
              <a:buChar char="•"/>
            </a:pPr>
            <a:r>
              <a:rPr lang="en-US" sz="1050" dirty="0">
                <a:solidFill>
                  <a:srgbClr val="1F2A44"/>
                </a:solidFill>
                <a:latin typeface="Calibri" pitchFamily="34" charset="0"/>
                <a:ea typeface="Calibri" pitchFamily="34" charset="-122"/>
                <a:cs typeface="Calibri" pitchFamily="34" charset="-120"/>
              </a:rPr>
              <a:t>Only the difference (an extra attribute and a new discount rule) is written in the subclass</a:t>
            </a:r>
            <a:endParaRPr lang="en-US" sz="1050" dirty="0"/>
          </a:p>
        </p:txBody>
      </p:sp>
      <p:sp>
        <p:nvSpPr>
          <p:cNvPr id="10" name="Shape 7"/>
          <p:cNvSpPr/>
          <p:nvPr/>
        </p:nvSpPr>
        <p:spPr>
          <a:xfrm>
            <a:off x="2606040" y="3977640"/>
            <a:ext cx="6080760" cy="713232"/>
          </a:xfrm>
          <a:prstGeom prst="roundRect">
            <a:avLst>
              <a:gd name="adj" fmla="val 10256"/>
            </a:avLst>
          </a:prstGeom>
          <a:solidFill>
            <a:srgbClr val="FDF1E7"/>
          </a:solidFill>
          <a:ln w="12700">
            <a:solidFill>
              <a:srgbClr val="FDF1E7"/>
            </a:solidFill>
            <a:prstDash val="solid"/>
          </a:ln>
        </p:spPr>
        <p:txBody>
          <a:bodyPr/>
          <a:lstStyle/>
          <a:p>
            <a:endParaRPr lang="tr-TR"/>
          </a:p>
        </p:txBody>
      </p:sp>
      <p:sp>
        <p:nvSpPr>
          <p:cNvPr id="11" name="Text 8"/>
          <p:cNvSpPr txBox="1"/>
          <p:nvPr/>
        </p:nvSpPr>
        <p:spPr>
          <a:xfrm>
            <a:off x="2715768" y="4032504"/>
            <a:ext cx="5861304" cy="603504"/>
          </a:xfrm>
          <a:prstGeom prst="rect">
            <a:avLst/>
          </a:prstGeom>
          <a:noFill/>
          <a:ln/>
        </p:spPr>
        <p:txBody>
          <a:bodyPr wrap="square" lIns="0" tIns="0" rIns="0" bIns="0" rtlCol="0" anchor="t"/>
          <a:lstStyle/>
          <a:p>
            <a:pPr marL="0" indent="0">
              <a:buNone/>
            </a:pPr>
            <a:r>
              <a:rPr lang="en-US" sz="1000" b="1" dirty="0">
                <a:solidFill>
                  <a:srgbClr val="E07A2F"/>
                </a:solidFill>
                <a:latin typeface="Calibri" pitchFamily="34" charset="0"/>
                <a:ea typeface="Calibri" pitchFamily="34" charset="-122"/>
                <a:cs typeface="Calibri" pitchFamily="34" charset="-120"/>
              </a:rPr>
              <a:t>Why inheritance here?  </a:t>
            </a:r>
            <a:r>
              <a:rPr lang="en-US" sz="1000" dirty="0">
                <a:solidFill>
                  <a:srgbClr val="1F2A44"/>
                </a:solidFill>
                <a:latin typeface="Calibri" pitchFamily="34" charset="0"/>
                <a:ea typeface="Calibri" pitchFamily="34" charset="-122"/>
                <a:cs typeface="Calibri" pitchFamily="34" charset="-120"/>
              </a:rPr>
              <a:t>Premium is a genuine sub-type: same interface, different pricing. If tiers multiplied (seasonal, staff, student) a Strategy object injected into Customer would scale better than a deepening class tree (Gamma et al., 1994).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138160" y="4773168"/>
            <a:ext cx="640080" cy="256032"/>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6 / 13</a:t>
            </a:r>
            <a:endParaRPr lang="en-US" sz="900" dirty="0"/>
          </a:p>
        </p:txBody>
      </p:sp>
      <p:sp>
        <p:nvSpPr>
          <p:cNvPr id="3" name="Shape 1"/>
          <p:cNvSpPr/>
          <p:nvPr/>
        </p:nvSpPr>
        <p:spPr>
          <a:xfrm>
            <a:off x="457200" y="292608"/>
            <a:ext cx="1554480" cy="237744"/>
          </a:xfrm>
          <a:prstGeom prst="roundRect">
            <a:avLst>
              <a:gd name="adj" fmla="val 50000"/>
            </a:avLst>
          </a:prstGeom>
          <a:solidFill>
            <a:srgbClr val="E07A2F"/>
          </a:solidFill>
          <a:ln w="12700">
            <a:solidFill>
              <a:srgbClr val="E07A2F"/>
            </a:solidFill>
            <a:prstDash val="solid"/>
          </a:ln>
        </p:spPr>
        <p:txBody>
          <a:bodyPr/>
          <a:lstStyle/>
          <a:p>
            <a:endParaRPr lang="tr-TR"/>
          </a:p>
        </p:txBody>
      </p:sp>
      <p:sp>
        <p:nvSpPr>
          <p:cNvPr id="4" name="Text 2"/>
          <p:cNvSpPr txBox="1"/>
          <p:nvPr/>
        </p:nvSpPr>
        <p:spPr>
          <a:xfrm>
            <a:off x="457200" y="292608"/>
            <a:ext cx="1554480" cy="237744"/>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POLYMORPHISM</a:t>
            </a:r>
            <a:endParaRPr lang="en-US" sz="900" dirty="0"/>
          </a:p>
        </p:txBody>
      </p:sp>
      <p:sp>
        <p:nvSpPr>
          <p:cNvPr id="5" name="Text 3"/>
          <p:cNvSpPr txBox="1"/>
          <p:nvPr/>
        </p:nvSpPr>
        <p:spPr>
          <a:xfrm>
            <a:off x="457200" y="566928"/>
            <a:ext cx="8229600" cy="457200"/>
          </a:xfrm>
          <a:prstGeom prst="rect">
            <a:avLst/>
          </a:prstGeom>
          <a:noFill/>
          <a:ln/>
        </p:spPr>
        <p:txBody>
          <a:bodyPr wrap="square" lIns="0" tIns="0" rIns="0" bIns="0" rtlCol="0" anchor="ctr"/>
          <a:lstStyle/>
          <a:p>
            <a:pPr marL="0" indent="0">
              <a:buNone/>
            </a:pPr>
            <a:r>
              <a:rPr lang="en-US" sz="2600" b="1" dirty="0">
                <a:solidFill>
                  <a:srgbClr val="1F2A44"/>
                </a:solidFill>
                <a:latin typeface="Cambria" pitchFamily="34" charset="0"/>
                <a:ea typeface="Cambria" pitchFamily="34" charset="-122"/>
                <a:cs typeface="Cambria" pitchFamily="34" charset="-120"/>
              </a:rPr>
              <a:t>Method Overriding and Polymorphic Behaviour</a:t>
            </a:r>
            <a:endParaRPr lang="en-US" sz="2600" dirty="0"/>
          </a:p>
        </p:txBody>
      </p:sp>
      <p:sp>
        <p:nvSpPr>
          <p:cNvPr id="6" name="Shape 4"/>
          <p:cNvSpPr/>
          <p:nvPr/>
        </p:nvSpPr>
        <p:spPr>
          <a:xfrm>
            <a:off x="457200" y="1143000"/>
            <a:ext cx="4846320" cy="2697480"/>
          </a:xfrm>
          <a:prstGeom prst="roundRect">
            <a:avLst>
              <a:gd name="adj" fmla="val 2712"/>
            </a:avLst>
          </a:prstGeom>
          <a:solidFill>
            <a:srgbClr val="F1F3F6"/>
          </a:solidFill>
          <a:ln w="9525">
            <a:solidFill>
              <a:srgbClr val="DDE1E7"/>
            </a:solidFill>
            <a:prstDash val="solid"/>
          </a:ln>
        </p:spPr>
        <p:txBody>
          <a:bodyPr/>
          <a:lstStyle/>
          <a:p>
            <a:endParaRPr lang="tr-TR"/>
          </a:p>
        </p:txBody>
      </p:sp>
      <p:sp>
        <p:nvSpPr>
          <p:cNvPr id="7" name="Text 5"/>
          <p:cNvSpPr txBox="1"/>
          <p:nvPr/>
        </p:nvSpPr>
        <p:spPr>
          <a:xfrm>
            <a:off x="566928" y="1216152"/>
            <a:ext cx="4626864" cy="2551176"/>
          </a:xfrm>
          <a:prstGeom prst="rect">
            <a:avLst/>
          </a:prstGeom>
          <a:noFill/>
          <a:ln/>
        </p:spPr>
        <p:txBody>
          <a:bodyPr wrap="square" lIns="0" tIns="0" rIns="0" bIns="0" rtlCol="0" anchor="t"/>
          <a:lstStyle/>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class PremiumCustomer(Customer):</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def get_role(self):                       # override</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return "Premium Customer"</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def calculate_discount(self, subtotal):   # override</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rate = self.DISCOUNT_RATE</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if datetime.now().year - self._member_since &gt;= 5:</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rate += 0.05                      # loyalty bonus</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return round(subtotal * rate, 2)</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One call, two behaviours - resolved at run time</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for customer in (alice, bob):</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print(customer, customer.calculate_discount(1000))</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Order never inspects the customer's type</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def total_cost(self):</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sub = self.subtotal()</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return sub - self._customer.calculate_discount(sub)</a:t>
            </a:r>
            <a:endParaRPr lang="en-US" sz="900" dirty="0"/>
          </a:p>
        </p:txBody>
      </p:sp>
      <p:sp>
        <p:nvSpPr>
          <p:cNvPr id="8" name="Shape 6"/>
          <p:cNvSpPr/>
          <p:nvPr/>
        </p:nvSpPr>
        <p:spPr>
          <a:xfrm>
            <a:off x="457200" y="3931920"/>
            <a:ext cx="4846320" cy="731520"/>
          </a:xfrm>
          <a:prstGeom prst="roundRect">
            <a:avLst>
              <a:gd name="adj" fmla="val 10000"/>
            </a:avLst>
          </a:prstGeom>
          <a:solidFill>
            <a:srgbClr val="1F2A44"/>
          </a:solidFill>
          <a:ln w="12700">
            <a:solidFill>
              <a:srgbClr val="1F2A44"/>
            </a:solidFill>
            <a:prstDash val="solid"/>
          </a:ln>
        </p:spPr>
        <p:txBody>
          <a:bodyPr/>
          <a:lstStyle/>
          <a:p>
            <a:endParaRPr lang="tr-TR"/>
          </a:p>
        </p:txBody>
      </p:sp>
      <p:sp>
        <p:nvSpPr>
          <p:cNvPr id="9" name="Text 7"/>
          <p:cNvSpPr txBox="1"/>
          <p:nvPr/>
        </p:nvSpPr>
        <p:spPr>
          <a:xfrm>
            <a:off x="566928" y="3977640"/>
            <a:ext cx="914400" cy="164592"/>
          </a:xfrm>
          <a:prstGeom prst="rect">
            <a:avLst/>
          </a:prstGeom>
          <a:noFill/>
          <a:ln/>
        </p:spPr>
        <p:txBody>
          <a:bodyPr wrap="square" lIns="0" tIns="0" rIns="0" bIns="0" rtlCol="0" anchor="ctr"/>
          <a:lstStyle/>
          <a:p>
            <a:pPr marL="0" indent="0">
              <a:buNone/>
            </a:pPr>
            <a:r>
              <a:rPr lang="en-US" sz="800" i="1" dirty="0">
                <a:solidFill>
                  <a:srgbClr val="CADCFC"/>
                </a:solidFill>
                <a:latin typeface="Calibri" pitchFamily="34" charset="0"/>
                <a:ea typeface="Calibri" pitchFamily="34" charset="-122"/>
                <a:cs typeface="Calibri" pitchFamily="34" charset="-120"/>
              </a:rPr>
              <a:t>output</a:t>
            </a:r>
            <a:endParaRPr lang="en-US" sz="800" dirty="0"/>
          </a:p>
        </p:txBody>
      </p:sp>
      <p:sp>
        <p:nvSpPr>
          <p:cNvPr id="10" name="Text 8"/>
          <p:cNvSpPr txBox="1"/>
          <p:nvPr/>
        </p:nvSpPr>
        <p:spPr>
          <a:xfrm>
            <a:off x="566928" y="4151376"/>
            <a:ext cx="4626864" cy="457200"/>
          </a:xfrm>
          <a:prstGeom prst="rect">
            <a:avLst/>
          </a:prstGeom>
          <a:noFill/>
          <a:ln/>
        </p:spPr>
        <p:txBody>
          <a:bodyPr wrap="square" lIns="0" tIns="0" rIns="0" bIns="0" rtlCol="0" anchor="t"/>
          <a:lstStyle/>
          <a:p>
            <a:pPr marL="0" indent="0">
              <a:lnSpc>
                <a:spcPct val="105000"/>
              </a:lnSpc>
              <a:buNone/>
            </a:pPr>
            <a:r>
              <a:rPr lang="en-US" sz="850" dirty="0">
                <a:solidFill>
                  <a:srgbClr val="FFFFFF"/>
                </a:solidFill>
                <a:latin typeface="Courier New" pitchFamily="34" charset="0"/>
                <a:ea typeface="Courier New" pitchFamily="34" charset="-122"/>
                <a:cs typeface="Courier New" pitchFamily="34" charset="-120"/>
              </a:rPr>
              <a:t>Customer: Alice &lt;alice@example.com&gt;          discount = 0.00</a:t>
            </a:r>
            <a:endParaRPr lang="en-US" sz="850" dirty="0"/>
          </a:p>
          <a:p>
            <a:pPr marL="0" indent="0">
              <a:lnSpc>
                <a:spcPct val="105000"/>
              </a:lnSpc>
              <a:buNone/>
            </a:pPr>
            <a:r>
              <a:rPr lang="en-US" sz="850" dirty="0">
                <a:solidFill>
                  <a:srgbClr val="FFFFFF"/>
                </a:solidFill>
                <a:latin typeface="Courier New" pitchFamily="34" charset="0"/>
                <a:ea typeface="Courier New" pitchFamily="34" charset="-122"/>
                <a:cs typeface="Courier New" pitchFamily="34" charset="-120"/>
              </a:rPr>
              <a:t>Premium Customer: Bob &lt;bob@example.com&gt;      discount = 150.00</a:t>
            </a:r>
            <a:endParaRPr lang="en-US" sz="850" dirty="0"/>
          </a:p>
        </p:txBody>
      </p:sp>
      <p:sp>
        <p:nvSpPr>
          <p:cNvPr id="11" name="Text 9"/>
          <p:cNvSpPr txBox="1"/>
          <p:nvPr/>
        </p:nvSpPr>
        <p:spPr>
          <a:xfrm>
            <a:off x="5486400" y="1143000"/>
            <a:ext cx="3200400" cy="2377440"/>
          </a:xfrm>
          <a:prstGeom prst="rect">
            <a:avLst/>
          </a:prstGeom>
          <a:noFill/>
          <a:ln/>
        </p:spPr>
        <p:txBody>
          <a:bodyPr wrap="square" lIns="25400" tIns="25400" rIns="25400" bIns="25400" rtlCol="0" anchor="t"/>
          <a:lstStyle/>
          <a:p>
            <a:pPr marL="152400" indent="-152400">
              <a:spcAft>
                <a:spcPts val="600"/>
              </a:spcAft>
              <a:buSzPct val="100000"/>
              <a:buChar char="•"/>
            </a:pPr>
            <a:r>
              <a:rPr lang="en-US" sz="1100" dirty="0">
                <a:solidFill>
                  <a:srgbClr val="1F2A44"/>
                </a:solidFill>
                <a:latin typeface="Calibri" pitchFamily="34" charset="0"/>
                <a:ea typeface="Calibri" pitchFamily="34" charset="-122"/>
                <a:cs typeface="Calibri" pitchFamily="34" charset="-120"/>
              </a:rPr>
              <a:t>Overriding: the subclass replaces the parent's method with the same name and signature</a:t>
            </a:r>
            <a:endParaRPr lang="en-US" sz="1100" dirty="0"/>
          </a:p>
          <a:p>
            <a:pPr marL="152400" indent="-152400">
              <a:spcAft>
                <a:spcPts val="600"/>
              </a:spcAft>
              <a:buSzPct val="100000"/>
              <a:buChar char="•"/>
            </a:pPr>
            <a:r>
              <a:rPr lang="en-US" sz="1100" dirty="0">
                <a:solidFill>
                  <a:srgbClr val="1F2A44"/>
                </a:solidFill>
                <a:latin typeface="Calibri" pitchFamily="34" charset="0"/>
                <a:ea typeface="Calibri" pitchFamily="34" charset="-122"/>
                <a:cs typeface="Calibri" pitchFamily="34" charset="-120"/>
              </a:rPr>
              <a:t>Polymorphism: Order calls calculate_discount() through the base type and Python dispatches to the right version at run time</a:t>
            </a:r>
            <a:endParaRPr lang="en-US" sz="1100" dirty="0"/>
          </a:p>
          <a:p>
            <a:pPr marL="152400" indent="-152400">
              <a:spcAft>
                <a:spcPts val="600"/>
              </a:spcAft>
              <a:buSzPct val="100000"/>
              <a:buChar char="•"/>
            </a:pPr>
            <a:r>
              <a:rPr lang="en-US" sz="1100" dirty="0">
                <a:solidFill>
                  <a:srgbClr val="1F2A44"/>
                </a:solidFill>
                <a:latin typeface="Calibri" pitchFamily="34" charset="0"/>
                <a:ea typeface="Calibri" pitchFamily="34" charset="-122"/>
                <a:cs typeface="Calibri" pitchFamily="34" charset="-120"/>
              </a:rPr>
              <a:t>No isinstance() checks anywhere - adding a new customer tier needs zero edits to Order (open/closed principle)</a:t>
            </a:r>
            <a:endParaRPr lang="en-US" sz="1100" dirty="0"/>
          </a:p>
        </p:txBody>
      </p:sp>
      <p:sp>
        <p:nvSpPr>
          <p:cNvPr id="12" name="Shape 10"/>
          <p:cNvSpPr/>
          <p:nvPr/>
        </p:nvSpPr>
        <p:spPr>
          <a:xfrm>
            <a:off x="5486400" y="3566160"/>
            <a:ext cx="3200400" cy="1097280"/>
          </a:xfrm>
          <a:prstGeom prst="roundRect">
            <a:avLst>
              <a:gd name="adj" fmla="val 6667"/>
            </a:avLst>
          </a:prstGeom>
          <a:solidFill>
            <a:srgbClr val="FDF1E7"/>
          </a:solidFill>
          <a:ln w="12700">
            <a:solidFill>
              <a:srgbClr val="FDF1E7"/>
            </a:solidFill>
            <a:prstDash val="solid"/>
          </a:ln>
        </p:spPr>
        <p:txBody>
          <a:bodyPr/>
          <a:lstStyle/>
          <a:p>
            <a:endParaRPr lang="tr-TR"/>
          </a:p>
        </p:txBody>
      </p:sp>
      <p:sp>
        <p:nvSpPr>
          <p:cNvPr id="13" name="Text 11"/>
          <p:cNvSpPr txBox="1"/>
          <p:nvPr/>
        </p:nvSpPr>
        <p:spPr>
          <a:xfrm>
            <a:off x="5596128" y="3621024"/>
            <a:ext cx="2980944" cy="987552"/>
          </a:xfrm>
          <a:prstGeom prst="rect">
            <a:avLst/>
          </a:prstGeom>
          <a:noFill/>
          <a:ln/>
        </p:spPr>
        <p:txBody>
          <a:bodyPr wrap="square" lIns="0" tIns="0" rIns="0" bIns="0" rtlCol="0" anchor="t"/>
          <a:lstStyle/>
          <a:p>
            <a:pPr marL="0" indent="0">
              <a:buNone/>
            </a:pPr>
            <a:r>
              <a:rPr lang="en-US" sz="1000" b="1" dirty="0">
                <a:solidFill>
                  <a:srgbClr val="E07A2F"/>
                </a:solidFill>
                <a:latin typeface="Calibri" pitchFamily="34" charset="0"/>
                <a:ea typeface="Calibri" pitchFamily="34" charset="-122"/>
                <a:cs typeface="Calibri" pitchFamily="34" charset="-120"/>
              </a:rPr>
              <a:t>Evaluation  </a:t>
            </a:r>
            <a:r>
              <a:rPr lang="en-US" sz="1000" dirty="0">
                <a:solidFill>
                  <a:srgbClr val="1F2A44"/>
                </a:solidFill>
                <a:latin typeface="Calibri" pitchFamily="34" charset="0"/>
                <a:ea typeface="Calibri" pitchFamily="34" charset="-122"/>
                <a:cs typeface="Calibri" pitchFamily="34" charset="-120"/>
              </a:rPr>
              <a:t>Python resolves the call dynamically and has no @Override keyword, so a misspelled method name silently creates a new method instead of overriding. Unit tests or a type checker catch this.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138160" y="4773168"/>
            <a:ext cx="640080" cy="256032"/>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7 / 13</a:t>
            </a:r>
            <a:endParaRPr lang="en-US" sz="900" dirty="0"/>
          </a:p>
        </p:txBody>
      </p:sp>
      <p:sp>
        <p:nvSpPr>
          <p:cNvPr id="3" name="Shape 1"/>
          <p:cNvSpPr/>
          <p:nvPr/>
        </p:nvSpPr>
        <p:spPr>
          <a:xfrm>
            <a:off x="457200" y="292608"/>
            <a:ext cx="1463040" cy="237744"/>
          </a:xfrm>
          <a:prstGeom prst="roundRect">
            <a:avLst>
              <a:gd name="adj" fmla="val 50000"/>
            </a:avLst>
          </a:prstGeom>
          <a:solidFill>
            <a:srgbClr val="E07A2F"/>
          </a:solidFill>
          <a:ln w="12700">
            <a:solidFill>
              <a:srgbClr val="E07A2F"/>
            </a:solidFill>
            <a:prstDash val="solid"/>
          </a:ln>
        </p:spPr>
        <p:txBody>
          <a:bodyPr/>
          <a:lstStyle/>
          <a:p>
            <a:endParaRPr lang="tr-TR"/>
          </a:p>
        </p:txBody>
      </p:sp>
      <p:sp>
        <p:nvSpPr>
          <p:cNvPr id="4" name="Text 2"/>
          <p:cNvSpPr txBox="1"/>
          <p:nvPr/>
        </p:nvSpPr>
        <p:spPr>
          <a:xfrm>
            <a:off x="457200" y="292608"/>
            <a:ext cx="1463040" cy="237744"/>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ABSTRACTION</a:t>
            </a:r>
            <a:endParaRPr lang="en-US" sz="900" dirty="0"/>
          </a:p>
        </p:txBody>
      </p:sp>
      <p:sp>
        <p:nvSpPr>
          <p:cNvPr id="5" name="Text 3"/>
          <p:cNvSpPr txBox="1"/>
          <p:nvPr/>
        </p:nvSpPr>
        <p:spPr>
          <a:xfrm>
            <a:off x="457200" y="566928"/>
            <a:ext cx="8229600" cy="457200"/>
          </a:xfrm>
          <a:prstGeom prst="rect">
            <a:avLst/>
          </a:prstGeom>
          <a:noFill/>
          <a:ln/>
        </p:spPr>
        <p:txBody>
          <a:bodyPr wrap="square" lIns="0" tIns="0" rIns="0" bIns="0" rtlCol="0" anchor="ctr"/>
          <a:lstStyle/>
          <a:p>
            <a:pPr marL="0" indent="0">
              <a:buNone/>
            </a:pPr>
            <a:r>
              <a:rPr lang="en-US" sz="2600" b="1" dirty="0">
                <a:solidFill>
                  <a:srgbClr val="1F2A44"/>
                </a:solidFill>
                <a:latin typeface="Cambria" pitchFamily="34" charset="0"/>
                <a:ea typeface="Cambria" pitchFamily="34" charset="-122"/>
                <a:cs typeface="Cambria" pitchFamily="34" charset="-120"/>
              </a:rPr>
              <a:t>Abstract Class  User  and Interface  Orderable</a:t>
            </a:r>
            <a:endParaRPr lang="en-US" sz="2600" dirty="0"/>
          </a:p>
        </p:txBody>
      </p:sp>
      <p:sp>
        <p:nvSpPr>
          <p:cNvPr id="6" name="Shape 4"/>
          <p:cNvSpPr/>
          <p:nvPr/>
        </p:nvSpPr>
        <p:spPr>
          <a:xfrm>
            <a:off x="457200" y="1143000"/>
            <a:ext cx="4389120" cy="3520440"/>
          </a:xfrm>
          <a:prstGeom prst="roundRect">
            <a:avLst>
              <a:gd name="adj" fmla="val 2078"/>
            </a:avLst>
          </a:prstGeom>
          <a:solidFill>
            <a:srgbClr val="F1F3F6"/>
          </a:solidFill>
          <a:ln w="9525">
            <a:solidFill>
              <a:srgbClr val="DDE1E7"/>
            </a:solidFill>
            <a:prstDash val="solid"/>
          </a:ln>
        </p:spPr>
        <p:txBody>
          <a:bodyPr/>
          <a:lstStyle/>
          <a:p>
            <a:endParaRPr lang="tr-TR"/>
          </a:p>
        </p:txBody>
      </p:sp>
      <p:sp>
        <p:nvSpPr>
          <p:cNvPr id="7" name="Text 5"/>
          <p:cNvSpPr txBox="1"/>
          <p:nvPr/>
        </p:nvSpPr>
        <p:spPr>
          <a:xfrm>
            <a:off x="566928" y="1216152"/>
            <a:ext cx="4169664" cy="3374136"/>
          </a:xfrm>
          <a:prstGeom prst="rect">
            <a:avLst/>
          </a:prstGeom>
          <a:noFill/>
          <a:ln/>
        </p:spPr>
        <p:txBody>
          <a:bodyPr wrap="square" lIns="0" tIns="0" rIns="0" bIns="0" rtlCol="0" anchor="t"/>
          <a:lstStyle/>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from abc import ABC, abstractmethod</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class User(ABC):                       # abstract class</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def __init__(self, user_id, name, email):</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if "@" not in email:</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raise ValueError("Invalid e-mail address")</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self._user_id, self._name = user_id, name</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self._email = email</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@abstractmethod</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def get_role(self) -&gt; str: ...     # contract</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def __str__(self):                 # shared code</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return f"{self.get_role()}: {self._name}"</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class Orderable(ABC):                  # "interface"</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@abstractmethod</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def get_price(self) -&gt; float: ...</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@abstractmethod</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def get_description(self) -&gt; str: ...</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@abstractmethod</a:t>
            </a:r>
            <a:endParaRPr lang="en-US" sz="900" dirty="0"/>
          </a:p>
          <a:p>
            <a:pPr marL="0" indent="0">
              <a:lnSpc>
                <a:spcPct val="105000"/>
              </a:lnSpc>
              <a:buNone/>
            </a:pPr>
            <a:r>
              <a:rPr lang="en-US" sz="900" dirty="0">
                <a:solidFill>
                  <a:srgbClr val="1F2A44"/>
                </a:solidFill>
                <a:latin typeface="Courier New" pitchFamily="34" charset="0"/>
                <a:ea typeface="Courier New" pitchFamily="34" charset="-122"/>
                <a:cs typeface="Courier New" pitchFamily="34" charset="-120"/>
              </a:rPr>
              <a:t>    def reserve(self, quantity: int) -&gt; None: ...</a:t>
            </a:r>
            <a:endParaRPr lang="en-US" sz="900" dirty="0"/>
          </a:p>
        </p:txBody>
      </p:sp>
      <p:pic>
        <p:nvPicPr>
          <p:cNvPr id="8" name="Image 0" descr="preencoded.png"/>
          <p:cNvPicPr>
            <a:picLocks noChangeAspect="1"/>
          </p:cNvPicPr>
          <p:nvPr/>
        </p:nvPicPr>
        <p:blipFill>
          <a:blip r:embed="rId3"/>
          <a:stretch>
            <a:fillRect/>
          </a:stretch>
        </p:blipFill>
        <p:spPr>
          <a:xfrm>
            <a:off x="5074920" y="1097280"/>
            <a:ext cx="3611880" cy="2057400"/>
          </a:xfrm>
          <a:prstGeom prst="rect">
            <a:avLst/>
          </a:prstGeom>
        </p:spPr>
      </p:pic>
      <p:sp>
        <p:nvSpPr>
          <p:cNvPr id="9" name="Text 6"/>
          <p:cNvSpPr txBox="1"/>
          <p:nvPr/>
        </p:nvSpPr>
        <p:spPr>
          <a:xfrm>
            <a:off x="5074920" y="3200400"/>
            <a:ext cx="3611880" cy="914400"/>
          </a:xfrm>
          <a:prstGeom prst="rect">
            <a:avLst/>
          </a:prstGeom>
          <a:noFill/>
          <a:ln/>
        </p:spPr>
        <p:txBody>
          <a:bodyPr wrap="square" lIns="25400" tIns="25400" rIns="25400" bIns="25400" rtlCol="0" anchor="t"/>
          <a:lstStyle/>
          <a:p>
            <a:pPr marL="152400" indent="-152400">
              <a:spcAft>
                <a:spcPts val="600"/>
              </a:spcAft>
              <a:buSzPct val="100000"/>
              <a:buChar char="•"/>
            </a:pPr>
            <a:r>
              <a:rPr lang="en-US" sz="1050" dirty="0">
                <a:solidFill>
                  <a:srgbClr val="1F2A44"/>
                </a:solidFill>
                <a:latin typeface="Calibri" pitchFamily="34" charset="0"/>
                <a:ea typeface="Calibri" pitchFamily="34" charset="-122"/>
                <a:cs typeface="Calibri" pitchFamily="34" charset="-120"/>
              </a:rPr>
              <a:t>Abstract class: shared state and code plus a contract - User(...) raises TypeError</a:t>
            </a:r>
            <a:endParaRPr lang="en-US" sz="1050" dirty="0"/>
          </a:p>
          <a:p>
            <a:pPr marL="152400" indent="-152400">
              <a:spcAft>
                <a:spcPts val="600"/>
              </a:spcAft>
              <a:buSzPct val="100000"/>
              <a:buChar char="•"/>
            </a:pPr>
            <a:r>
              <a:rPr lang="en-US" sz="1050" dirty="0">
                <a:solidFill>
                  <a:srgbClr val="1F2A44"/>
                </a:solidFill>
                <a:latin typeface="Calibri" pitchFamily="34" charset="0"/>
                <a:ea typeface="Calibri" pitchFamily="34" charset="-122"/>
                <a:cs typeface="Calibri" pitchFamily="34" charset="-120"/>
              </a:rPr>
              <a:t>Interface: contract only, no state - Orderable is an ABC with nothing but abstract methods</a:t>
            </a:r>
            <a:endParaRPr lang="en-US" sz="1050" dirty="0"/>
          </a:p>
          <a:p>
            <a:pPr marL="152400" indent="-152400">
              <a:spcAft>
                <a:spcPts val="600"/>
              </a:spcAft>
              <a:buSzPct val="100000"/>
              <a:buChar char="•"/>
            </a:pPr>
            <a:r>
              <a:rPr lang="en-US" sz="1050" dirty="0">
                <a:solidFill>
                  <a:srgbClr val="1F2A44"/>
                </a:solidFill>
                <a:latin typeface="Calibri" pitchFamily="34" charset="0"/>
                <a:ea typeface="Calibri" pitchFamily="34" charset="-122"/>
                <a:cs typeface="Calibri" pitchFamily="34" charset="-120"/>
              </a:rPr>
              <a:t>Product and GiftCard both satisfy Orderable, so Order can hold either</a:t>
            </a:r>
            <a:endParaRPr lang="en-US" sz="1050" dirty="0"/>
          </a:p>
        </p:txBody>
      </p:sp>
      <p:sp>
        <p:nvSpPr>
          <p:cNvPr id="10" name="Shape 7"/>
          <p:cNvSpPr/>
          <p:nvPr/>
        </p:nvSpPr>
        <p:spPr>
          <a:xfrm>
            <a:off x="5074920" y="4041648"/>
            <a:ext cx="3611880" cy="640080"/>
          </a:xfrm>
          <a:prstGeom prst="roundRect">
            <a:avLst>
              <a:gd name="adj" fmla="val 11429"/>
            </a:avLst>
          </a:prstGeom>
          <a:solidFill>
            <a:srgbClr val="FDF1E7"/>
          </a:solidFill>
          <a:ln w="12700">
            <a:solidFill>
              <a:srgbClr val="FDF1E7"/>
            </a:solidFill>
            <a:prstDash val="solid"/>
          </a:ln>
        </p:spPr>
        <p:txBody>
          <a:bodyPr/>
          <a:lstStyle/>
          <a:p>
            <a:endParaRPr lang="tr-TR"/>
          </a:p>
        </p:txBody>
      </p:sp>
      <p:sp>
        <p:nvSpPr>
          <p:cNvPr id="11" name="Text 8"/>
          <p:cNvSpPr txBox="1"/>
          <p:nvPr/>
        </p:nvSpPr>
        <p:spPr>
          <a:xfrm>
            <a:off x="5184648" y="4096512"/>
            <a:ext cx="3392424" cy="530352"/>
          </a:xfrm>
          <a:prstGeom prst="rect">
            <a:avLst/>
          </a:prstGeom>
          <a:noFill/>
          <a:ln/>
        </p:spPr>
        <p:txBody>
          <a:bodyPr wrap="square" lIns="0" tIns="0" rIns="0" bIns="0" rtlCol="0" anchor="t"/>
          <a:lstStyle/>
          <a:p>
            <a:pPr marL="0" indent="0">
              <a:buNone/>
            </a:pPr>
            <a:r>
              <a:rPr lang="en-US" sz="950" b="1" dirty="0">
                <a:solidFill>
                  <a:srgbClr val="E07A2F"/>
                </a:solidFill>
                <a:latin typeface="Calibri" pitchFamily="34" charset="0"/>
                <a:ea typeface="Calibri" pitchFamily="34" charset="-122"/>
                <a:cs typeface="Calibri" pitchFamily="34" charset="-120"/>
              </a:rPr>
              <a:t>Alternative  </a:t>
            </a:r>
            <a:r>
              <a:rPr lang="en-US" sz="950" dirty="0">
                <a:solidFill>
                  <a:srgbClr val="1F2A44"/>
                </a:solidFill>
                <a:latin typeface="Calibri" pitchFamily="34" charset="0"/>
                <a:ea typeface="Calibri" pitchFamily="34" charset="-122"/>
                <a:cs typeface="Calibri" pitchFamily="34" charset="-120"/>
              </a:rPr>
              <a:t>typing.Protocol (PEP 544) gives the same contract structurally, without inheritance. ABC was chosen because it fails loudly at instantiation, which suits a system where data integrity matters.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138160" y="4773168"/>
            <a:ext cx="640080" cy="256032"/>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8 / 13</a:t>
            </a:r>
            <a:endParaRPr lang="en-US" sz="900" dirty="0"/>
          </a:p>
        </p:txBody>
      </p:sp>
      <p:sp>
        <p:nvSpPr>
          <p:cNvPr id="3" name="Shape 1"/>
          <p:cNvSpPr/>
          <p:nvPr/>
        </p:nvSpPr>
        <p:spPr>
          <a:xfrm>
            <a:off x="457200" y="292608"/>
            <a:ext cx="1371600" cy="237744"/>
          </a:xfrm>
          <a:prstGeom prst="roundRect">
            <a:avLst>
              <a:gd name="adj" fmla="val 50000"/>
            </a:avLst>
          </a:prstGeom>
          <a:solidFill>
            <a:srgbClr val="E07A2F"/>
          </a:solidFill>
          <a:ln w="12700">
            <a:solidFill>
              <a:srgbClr val="E07A2F"/>
            </a:solidFill>
            <a:prstDash val="solid"/>
          </a:ln>
        </p:spPr>
        <p:txBody>
          <a:bodyPr/>
          <a:lstStyle/>
          <a:p>
            <a:endParaRPr lang="tr-TR"/>
          </a:p>
        </p:txBody>
      </p:sp>
      <p:sp>
        <p:nvSpPr>
          <p:cNvPr id="4" name="Text 2"/>
          <p:cNvSpPr txBox="1"/>
          <p:nvPr/>
        </p:nvSpPr>
        <p:spPr>
          <a:xfrm>
            <a:off x="457200" y="292608"/>
            <a:ext cx="1371600" cy="237744"/>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DATA HIDING</a:t>
            </a:r>
            <a:endParaRPr lang="en-US" sz="900" dirty="0"/>
          </a:p>
        </p:txBody>
      </p:sp>
      <p:sp>
        <p:nvSpPr>
          <p:cNvPr id="5" name="Text 3"/>
          <p:cNvSpPr txBox="1"/>
          <p:nvPr/>
        </p:nvSpPr>
        <p:spPr>
          <a:xfrm>
            <a:off x="457200" y="566928"/>
            <a:ext cx="8229600" cy="457200"/>
          </a:xfrm>
          <a:prstGeom prst="rect">
            <a:avLst/>
          </a:prstGeom>
          <a:noFill/>
          <a:ln/>
        </p:spPr>
        <p:txBody>
          <a:bodyPr wrap="square" lIns="0" tIns="0" rIns="0" bIns="0" rtlCol="0" anchor="ctr"/>
          <a:lstStyle/>
          <a:p>
            <a:pPr marL="0" indent="0">
              <a:buNone/>
            </a:pPr>
            <a:r>
              <a:rPr lang="en-US" sz="2600" b="1" dirty="0">
                <a:solidFill>
                  <a:srgbClr val="1F2A44"/>
                </a:solidFill>
                <a:latin typeface="Cambria" pitchFamily="34" charset="0"/>
                <a:ea typeface="Cambria" pitchFamily="34" charset="-122"/>
                <a:cs typeface="Cambria" pitchFamily="34" charset="-120"/>
              </a:rPr>
              <a:t>Access Modifiers and Data Hiding</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4023360" cy="914400"/>
        </p:xfrm>
        <a:graphic>
          <a:graphicData uri="http://schemas.openxmlformats.org/drawingml/2006/table">
            <a:tbl>
              <a:tblPr/>
              <a:tblGrid>
                <a:gridCol w="7315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29260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Convention</a:t>
                      </a:r>
                      <a:endParaRPr lang="en-US" sz="1000" dirty="0">
                        <a:latin typeface="Calibri" charset="0"/>
                        <a:ea typeface="Calibri" charset="0"/>
                        <a:cs typeface="Calibri"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1F2A44"/>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Meaning</a:t>
                      </a:r>
                      <a:endParaRPr lang="en-US" sz="1000" dirty="0">
                        <a:latin typeface="Calibri" charset="0"/>
                        <a:ea typeface="Calibri" charset="0"/>
                        <a:cs typeface="Calibri"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1F2A44"/>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Used for</a:t>
                      </a:r>
                      <a:endParaRPr lang="en-US" sz="1000" dirty="0">
                        <a:latin typeface="Calibri" charset="0"/>
                        <a:ea typeface="Calibri" charset="0"/>
                        <a:cs typeface="Calibri"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1F2A44"/>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Enforced?</a:t>
                      </a:r>
                      <a:endParaRPr lang="en-US" sz="1000" dirty="0">
                        <a:latin typeface="Calibri" charset="0"/>
                        <a:ea typeface="Calibri" charset="0"/>
                        <a:cs typeface="Calibri"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65760">
                <a:tc>
                  <a:txBody>
                    <a:bodyPr/>
                    <a:lstStyle/>
                    <a:p>
                      <a:pPr marL="0" indent="0">
                        <a:buNone/>
                      </a:pPr>
                      <a:r>
                        <a:rPr lang="en-US" sz="950" dirty="0">
                          <a:solidFill>
                            <a:srgbClr val="1F2A44"/>
                          </a:solidFill>
                          <a:latin typeface="Courier New" pitchFamily="34" charset="0"/>
                          <a:ea typeface="Courier New" pitchFamily="34" charset="-122"/>
                          <a:cs typeface="Courier New" pitchFamily="34" charset="-120"/>
                        </a:rPr>
                        <a:t>name</a:t>
                      </a:r>
                      <a:endParaRPr lang="en-US" sz="950" dirty="0">
                        <a:latin typeface="Courier New" charset="0"/>
                        <a:ea typeface="Courier New" charset="0"/>
                        <a:cs typeface="Courier New"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c>
                  <a:txBody>
                    <a:bodyPr/>
                    <a:lstStyle/>
                    <a:p>
                      <a:pPr marL="0" indent="0">
                        <a:buNone/>
                      </a:pPr>
                      <a:r>
                        <a:rPr lang="en-US" sz="1000" dirty="0">
                          <a:solidFill>
                            <a:srgbClr val="1F2A44"/>
                          </a:solidFill>
                          <a:latin typeface="Calibri" pitchFamily="34" charset="0"/>
                          <a:ea typeface="Calibri" pitchFamily="34" charset="-122"/>
                          <a:cs typeface="Calibri" pitchFamily="34" charset="-120"/>
                        </a:rPr>
                        <a:t>public</a:t>
                      </a:r>
                      <a:endParaRPr lang="en-US" sz="1000" dirty="0">
                        <a:latin typeface="Calibri" charset="0"/>
                        <a:ea typeface="Calibri" charset="0"/>
                        <a:cs typeface="Calibri"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c>
                  <a:txBody>
                    <a:bodyPr/>
                    <a:lstStyle/>
                    <a:p>
                      <a:pPr marL="0" indent="0">
                        <a:buNone/>
                      </a:pPr>
                      <a:r>
                        <a:rPr lang="en-US" sz="950" dirty="0">
                          <a:solidFill>
                            <a:srgbClr val="1F2A44"/>
                          </a:solidFill>
                          <a:latin typeface="Courier New" pitchFamily="34" charset="0"/>
                          <a:ea typeface="Courier New" pitchFamily="34" charset="-122"/>
                          <a:cs typeface="Courier New" pitchFamily="34" charset="-120"/>
                        </a:rPr>
                        <a:t>DISCOUNT_RATE, methods</a:t>
                      </a:r>
                      <a:endParaRPr lang="en-US" sz="950" dirty="0">
                        <a:latin typeface="Courier New" charset="0"/>
                        <a:ea typeface="Courier New" charset="0"/>
                        <a:cs typeface="Courier New"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c>
                  <a:txBody>
                    <a:bodyPr/>
                    <a:lstStyle/>
                    <a:p>
                      <a:pPr marL="0" indent="0">
                        <a:buNone/>
                      </a:pPr>
                      <a:r>
                        <a:rPr lang="en-US" sz="1000" dirty="0">
                          <a:solidFill>
                            <a:srgbClr val="1F2A44"/>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950" dirty="0">
                          <a:solidFill>
                            <a:srgbClr val="1F2A44"/>
                          </a:solidFill>
                          <a:latin typeface="Courier New" pitchFamily="34" charset="0"/>
                          <a:ea typeface="Courier New" pitchFamily="34" charset="-122"/>
                          <a:cs typeface="Courier New" pitchFamily="34" charset="-120"/>
                        </a:rPr>
                        <a:t>_name</a:t>
                      </a:r>
                      <a:endParaRPr lang="en-US" sz="950" dirty="0">
                        <a:latin typeface="Courier New" charset="0"/>
                        <a:ea typeface="Courier New" charset="0"/>
                        <a:cs typeface="Courier New"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c>
                  <a:txBody>
                    <a:bodyPr/>
                    <a:lstStyle/>
                    <a:p>
                      <a:pPr marL="0" indent="0">
                        <a:buNone/>
                      </a:pPr>
                      <a:r>
                        <a:rPr lang="en-US" sz="1000" dirty="0">
                          <a:solidFill>
                            <a:srgbClr val="1F2A44"/>
                          </a:solidFill>
                          <a:latin typeface="Calibri" pitchFamily="34" charset="0"/>
                          <a:ea typeface="Calibri" pitchFamily="34" charset="-122"/>
                          <a:cs typeface="Calibri" pitchFamily="34" charset="-120"/>
                        </a:rPr>
                        <a:t>protected - internal, subclasses may use</a:t>
                      </a:r>
                      <a:endParaRPr lang="en-US" sz="1000" dirty="0">
                        <a:latin typeface="Calibri" charset="0"/>
                        <a:ea typeface="Calibri" charset="0"/>
                        <a:cs typeface="Calibri"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c>
                  <a:txBody>
                    <a:bodyPr/>
                    <a:lstStyle/>
                    <a:p>
                      <a:pPr marL="0" indent="0">
                        <a:buNone/>
                      </a:pPr>
                      <a:r>
                        <a:rPr lang="en-US" sz="950" dirty="0">
                          <a:solidFill>
                            <a:srgbClr val="1F2A44"/>
                          </a:solidFill>
                          <a:latin typeface="Courier New" pitchFamily="34" charset="0"/>
                          <a:ea typeface="Courier New" pitchFamily="34" charset="-122"/>
                          <a:cs typeface="Courier New" pitchFamily="34" charset="-120"/>
                        </a:rPr>
                        <a:t>_price, _orders, _status</a:t>
                      </a:r>
                      <a:endParaRPr lang="en-US" sz="950" dirty="0">
                        <a:latin typeface="Courier New" charset="0"/>
                        <a:ea typeface="Courier New" charset="0"/>
                        <a:cs typeface="Courier New"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c>
                  <a:txBody>
                    <a:bodyPr/>
                    <a:lstStyle/>
                    <a:p>
                      <a:pPr marL="0" indent="0">
                        <a:buNone/>
                      </a:pPr>
                      <a:r>
                        <a:rPr lang="en-US" sz="1000" dirty="0">
                          <a:solidFill>
                            <a:srgbClr val="1F2A44"/>
                          </a:solidFill>
                          <a:latin typeface="Calibri" pitchFamily="34" charset="0"/>
                          <a:ea typeface="Calibri" pitchFamily="34" charset="-122"/>
                          <a:cs typeface="Calibri" pitchFamily="34" charset="-120"/>
                        </a:rPr>
                        <a:t>By convention only</a:t>
                      </a:r>
                      <a:endParaRPr lang="en-US" sz="1000" dirty="0">
                        <a:latin typeface="Calibri" charset="0"/>
                        <a:ea typeface="Calibri" charset="0"/>
                        <a:cs typeface="Calibri"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950" dirty="0">
                          <a:solidFill>
                            <a:srgbClr val="1F2A44"/>
                          </a:solidFill>
                          <a:latin typeface="Courier New" pitchFamily="34" charset="0"/>
                          <a:ea typeface="Courier New" pitchFamily="34" charset="-122"/>
                          <a:cs typeface="Courier New" pitchFamily="34" charset="-120"/>
                        </a:rPr>
                        <a:t>__name</a:t>
                      </a:r>
                      <a:endParaRPr lang="en-US" sz="950" dirty="0">
                        <a:latin typeface="Courier New" charset="0"/>
                        <a:ea typeface="Courier New" charset="0"/>
                        <a:cs typeface="Courier New"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c>
                  <a:txBody>
                    <a:bodyPr/>
                    <a:lstStyle/>
                    <a:p>
                      <a:pPr marL="0" indent="0">
                        <a:buNone/>
                      </a:pPr>
                      <a:r>
                        <a:rPr lang="en-US" sz="1000" dirty="0">
                          <a:solidFill>
                            <a:srgbClr val="1F2A44"/>
                          </a:solidFill>
                          <a:latin typeface="Calibri" pitchFamily="34" charset="0"/>
                          <a:ea typeface="Calibri" pitchFamily="34" charset="-122"/>
                          <a:cs typeface="Calibri" pitchFamily="34" charset="-120"/>
                        </a:rPr>
                        <a:t>private - name-mangled to _Class__name</a:t>
                      </a:r>
                      <a:endParaRPr lang="en-US" sz="1000" dirty="0">
                        <a:latin typeface="Calibri" charset="0"/>
                        <a:ea typeface="Calibri" charset="0"/>
                        <a:cs typeface="Calibri"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c>
                  <a:txBody>
                    <a:bodyPr/>
                    <a:lstStyle/>
                    <a:p>
                      <a:pPr marL="0" indent="0">
                        <a:buNone/>
                      </a:pPr>
                      <a:r>
                        <a:rPr lang="en-US" sz="950" dirty="0">
                          <a:solidFill>
                            <a:srgbClr val="1F2A44"/>
                          </a:solidFill>
                          <a:latin typeface="Courier New" pitchFamily="34" charset="0"/>
                          <a:ea typeface="Courier New" pitchFamily="34" charset="-122"/>
                          <a:cs typeface="Courier New" pitchFamily="34" charset="-120"/>
                        </a:rPr>
                        <a:t>__product_id, __lines</a:t>
                      </a:r>
                      <a:endParaRPr lang="en-US" sz="950" dirty="0">
                        <a:latin typeface="Courier New" charset="0"/>
                        <a:ea typeface="Courier New" charset="0"/>
                        <a:cs typeface="Courier New"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tc>
                  <a:txBody>
                    <a:bodyPr/>
                    <a:lstStyle/>
                    <a:p>
                      <a:pPr marL="0" indent="0">
                        <a:buNone/>
                      </a:pPr>
                      <a:r>
                        <a:rPr lang="en-US" sz="1000" dirty="0">
                          <a:solidFill>
                            <a:srgbClr val="1F2A44"/>
                          </a:solidFill>
                          <a:latin typeface="Calibri" pitchFamily="34" charset="0"/>
                          <a:ea typeface="Calibri" pitchFamily="34" charset="-122"/>
                          <a:cs typeface="Calibri" pitchFamily="34" charset="-120"/>
                        </a:rPr>
                        <a:t>Partially (mangling)</a:t>
                      </a:r>
                      <a:endParaRPr lang="en-US" sz="1000" dirty="0">
                        <a:latin typeface="Calibri" charset="0"/>
                        <a:ea typeface="Calibri" charset="0"/>
                        <a:cs typeface="Calibri" charset="0"/>
                      </a:endParaRPr>
                    </a:p>
                  </a:txBody>
                  <a:tcPr marL="45720" marR="45720" anchor="ctr">
                    <a:lnL w="9525" cap="flat" cmpd="sng" algn="ctr">
                      <a:solidFill>
                        <a:srgbClr val="DDE1E7"/>
                      </a:solidFill>
                      <a:prstDash val="solid"/>
                      <a:round/>
                      <a:headEnd type="none" w="med" len="med"/>
                      <a:tailEnd type="none" w="med" len="med"/>
                    </a:lnL>
                    <a:lnR w="9525" cap="flat" cmpd="sng" algn="ctr">
                      <a:solidFill>
                        <a:srgbClr val="DDE1E7"/>
                      </a:solidFill>
                      <a:prstDash val="solid"/>
                      <a:round/>
                      <a:headEnd type="none" w="med" len="med"/>
                      <a:tailEnd type="none" w="med" len="med"/>
                    </a:lnR>
                    <a:lnT w="9525" cap="flat" cmpd="sng" algn="ctr">
                      <a:solidFill>
                        <a:srgbClr val="DDE1E7"/>
                      </a:solidFill>
                      <a:prstDash val="solid"/>
                      <a:round/>
                      <a:headEnd type="none" w="med" len="med"/>
                      <a:tailEnd type="none" w="med" len="med"/>
                    </a:lnT>
                    <a:lnB w="9525" cap="flat" cmpd="sng" algn="ctr">
                      <a:solidFill>
                        <a:srgbClr val="DDE1E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txBox="1"/>
          <p:nvPr/>
        </p:nvSpPr>
        <p:spPr>
          <a:xfrm>
            <a:off x="457200" y="2880360"/>
            <a:ext cx="4023360" cy="1097280"/>
          </a:xfrm>
          <a:prstGeom prst="rect">
            <a:avLst/>
          </a:prstGeom>
          <a:noFill/>
          <a:ln/>
        </p:spPr>
        <p:txBody>
          <a:bodyPr wrap="square" lIns="25400" tIns="25400" rIns="25400" bIns="25400" rtlCol="0" anchor="t"/>
          <a:lstStyle/>
          <a:p>
            <a:pPr marL="152400" indent="-152400">
              <a:spcAft>
                <a:spcPts val="600"/>
              </a:spcAft>
              <a:buSzPct val="100000"/>
              <a:buChar char="•"/>
            </a:pPr>
            <a:r>
              <a:rPr lang="en-US" sz="1050" dirty="0">
                <a:solidFill>
                  <a:srgbClr val="1F2A44"/>
                </a:solidFill>
                <a:latin typeface="Calibri" pitchFamily="34" charset="0"/>
                <a:ea typeface="Calibri" pitchFamily="34" charset="-122"/>
                <a:cs typeface="Calibri" pitchFamily="34" charset="-120"/>
              </a:rPr>
              <a:t>Attributes are never written directly from outside; every write goes through a validating setter</a:t>
            </a:r>
            <a:endParaRPr lang="en-US" sz="1050" dirty="0"/>
          </a:p>
          <a:p>
            <a:pPr marL="152400" indent="-152400">
              <a:spcAft>
                <a:spcPts val="600"/>
              </a:spcAft>
              <a:buSzPct val="100000"/>
              <a:buChar char="•"/>
            </a:pPr>
            <a:r>
              <a:rPr lang="en-US" sz="1050" dirty="0">
                <a:solidFill>
                  <a:srgbClr val="1F2A44"/>
                </a:solidFill>
                <a:latin typeface="Calibri" pitchFamily="34" charset="0"/>
                <a:ea typeface="Calibri" pitchFamily="34" charset="-122"/>
                <a:cs typeface="Calibri" pitchFamily="34" charset="-120"/>
              </a:rPr>
              <a:t>The product ID is private because it must never change once assigned</a:t>
            </a:r>
            <a:endParaRPr lang="en-US" sz="1050" dirty="0"/>
          </a:p>
          <a:p>
            <a:pPr marL="152400" indent="-152400">
              <a:spcAft>
                <a:spcPts val="600"/>
              </a:spcAft>
              <a:buSzPct val="100000"/>
              <a:buChar char="•"/>
            </a:pPr>
            <a:r>
              <a:rPr lang="en-US" sz="1050" dirty="0">
                <a:solidFill>
                  <a:srgbClr val="1F2A44"/>
                </a:solidFill>
                <a:latin typeface="Calibri" pitchFamily="34" charset="0"/>
                <a:ea typeface="Calibri" pitchFamily="34" charset="-122"/>
                <a:cs typeface="Calibri" pitchFamily="34" charset="-120"/>
              </a:rPr>
              <a:t>Read-only properties (stock, product_id) expose state without giving up control</a:t>
            </a:r>
            <a:endParaRPr lang="en-US" sz="1050" dirty="0"/>
          </a:p>
        </p:txBody>
      </p:sp>
      <p:sp>
        <p:nvSpPr>
          <p:cNvPr id="8" name="Shape 5"/>
          <p:cNvSpPr/>
          <p:nvPr/>
        </p:nvSpPr>
        <p:spPr>
          <a:xfrm>
            <a:off x="457200" y="3931920"/>
            <a:ext cx="4023360" cy="749808"/>
          </a:xfrm>
          <a:prstGeom prst="roundRect">
            <a:avLst>
              <a:gd name="adj" fmla="val 9756"/>
            </a:avLst>
          </a:prstGeom>
          <a:solidFill>
            <a:srgbClr val="FDF1E7"/>
          </a:solidFill>
          <a:ln w="12700">
            <a:solidFill>
              <a:srgbClr val="FDF1E7"/>
            </a:solidFill>
            <a:prstDash val="solid"/>
          </a:ln>
        </p:spPr>
        <p:txBody>
          <a:bodyPr/>
          <a:lstStyle/>
          <a:p>
            <a:endParaRPr lang="tr-TR"/>
          </a:p>
        </p:txBody>
      </p:sp>
      <p:sp>
        <p:nvSpPr>
          <p:cNvPr id="6" name="Text 6"/>
          <p:cNvSpPr txBox="1"/>
          <p:nvPr/>
        </p:nvSpPr>
        <p:spPr>
          <a:xfrm>
            <a:off x="566928" y="3986784"/>
            <a:ext cx="3803904" cy="640080"/>
          </a:xfrm>
          <a:prstGeom prst="rect">
            <a:avLst/>
          </a:prstGeom>
          <a:noFill/>
          <a:ln/>
        </p:spPr>
        <p:txBody>
          <a:bodyPr wrap="square" lIns="0" tIns="0" rIns="0" bIns="0" rtlCol="0" anchor="t"/>
          <a:lstStyle/>
          <a:p>
            <a:pPr marL="0" indent="0">
              <a:buNone/>
            </a:pPr>
            <a:r>
              <a:rPr lang="en-US" sz="950" b="1" dirty="0">
                <a:solidFill>
                  <a:srgbClr val="E07A2F"/>
                </a:solidFill>
                <a:latin typeface="Calibri" pitchFamily="34" charset="0"/>
                <a:ea typeface="Calibri" pitchFamily="34" charset="-122"/>
                <a:cs typeface="Calibri" pitchFamily="34" charset="-120"/>
              </a:rPr>
              <a:t>Evaluation  </a:t>
            </a:r>
            <a:r>
              <a:rPr lang="en-US" sz="950" dirty="0">
                <a:solidFill>
                  <a:srgbClr val="1F2A44"/>
                </a:solidFill>
                <a:latin typeface="Calibri" pitchFamily="34" charset="0"/>
                <a:ea typeface="Calibri" pitchFamily="34" charset="-122"/>
                <a:cs typeface="Calibri" pitchFamily="34" charset="-120"/>
              </a:rPr>
              <a:t>Python enforces access by convention, not by the compiler (unlike Java's private). Name mangling prevents accidental access and subclass name clashes, not deliberate access - integrity therefore relies on validating properties.</a:t>
            </a:r>
            <a:endParaRPr lang="en-US" sz="950" dirty="0"/>
          </a:p>
        </p:txBody>
      </p:sp>
      <p:sp>
        <p:nvSpPr>
          <p:cNvPr id="10" name="Shape 7"/>
          <p:cNvSpPr/>
          <p:nvPr/>
        </p:nvSpPr>
        <p:spPr>
          <a:xfrm>
            <a:off x="4663440" y="1143000"/>
            <a:ext cx="4023360" cy="2606040"/>
          </a:xfrm>
          <a:prstGeom prst="roundRect">
            <a:avLst>
              <a:gd name="adj" fmla="val 2807"/>
            </a:avLst>
          </a:prstGeom>
          <a:solidFill>
            <a:srgbClr val="F1F3F6"/>
          </a:solidFill>
          <a:ln w="9525">
            <a:solidFill>
              <a:srgbClr val="DDE1E7"/>
            </a:solidFill>
            <a:prstDash val="solid"/>
          </a:ln>
        </p:spPr>
        <p:txBody>
          <a:bodyPr/>
          <a:lstStyle/>
          <a:p>
            <a:endParaRPr lang="tr-TR"/>
          </a:p>
        </p:txBody>
      </p:sp>
      <p:sp>
        <p:nvSpPr>
          <p:cNvPr id="11" name="Text 8"/>
          <p:cNvSpPr txBox="1"/>
          <p:nvPr/>
        </p:nvSpPr>
        <p:spPr>
          <a:xfrm>
            <a:off x="4773168" y="1216152"/>
            <a:ext cx="3803904" cy="2459736"/>
          </a:xfrm>
          <a:prstGeom prst="rect">
            <a:avLst/>
          </a:prstGeom>
          <a:noFill/>
          <a:ln/>
        </p:spPr>
        <p:txBody>
          <a:bodyPr wrap="square" lIns="0" tIns="0" rIns="0" bIns="0" rtlCol="0" anchor="t"/>
          <a:lstStyle/>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class Product(Orderable):</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def __init__(self, product_id, name, price, stock):</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self.__product_id = product_id  # private</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self._price = price             # protected</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@property</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def product_id(self):               # read-only</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return self.__product_id</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@property</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def price(self):</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return self._price</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@price.setter</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def price(self, value):             # validated write</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if value &lt; 0:</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raise ValueError("Price cannot be negative")</a:t>
            </a:r>
            <a:endParaRPr lang="en-US" sz="850" dirty="0"/>
          </a:p>
          <a:p>
            <a:pPr marL="0" indent="0">
              <a:lnSpc>
                <a:spcPct val="105000"/>
              </a:lnSpc>
              <a:buNone/>
            </a:pPr>
            <a:r>
              <a:rPr lang="en-US" sz="850" dirty="0">
                <a:solidFill>
                  <a:srgbClr val="1F2A44"/>
                </a:solidFill>
                <a:latin typeface="Courier New" pitchFamily="34" charset="0"/>
                <a:ea typeface="Courier New" pitchFamily="34" charset="-122"/>
                <a:cs typeface="Courier New" pitchFamily="34" charset="-120"/>
              </a:rPr>
              <a:t>        self._price = value</a:t>
            </a:r>
            <a:endParaRPr lang="en-US" sz="850" dirty="0"/>
          </a:p>
        </p:txBody>
      </p:sp>
      <p:sp>
        <p:nvSpPr>
          <p:cNvPr id="12" name="Shape 9"/>
          <p:cNvSpPr/>
          <p:nvPr/>
        </p:nvSpPr>
        <p:spPr>
          <a:xfrm>
            <a:off x="4663440" y="3840480"/>
            <a:ext cx="4023360" cy="841248"/>
          </a:xfrm>
          <a:prstGeom prst="roundRect">
            <a:avLst>
              <a:gd name="adj" fmla="val 8696"/>
            </a:avLst>
          </a:prstGeom>
          <a:solidFill>
            <a:srgbClr val="1F2A44"/>
          </a:solidFill>
          <a:ln w="12700">
            <a:solidFill>
              <a:srgbClr val="1F2A44"/>
            </a:solidFill>
            <a:prstDash val="solid"/>
          </a:ln>
        </p:spPr>
        <p:txBody>
          <a:bodyPr/>
          <a:lstStyle/>
          <a:p>
            <a:endParaRPr lang="tr-TR"/>
          </a:p>
        </p:txBody>
      </p:sp>
      <p:sp>
        <p:nvSpPr>
          <p:cNvPr id="13" name="Text 10"/>
          <p:cNvSpPr txBox="1"/>
          <p:nvPr/>
        </p:nvSpPr>
        <p:spPr>
          <a:xfrm>
            <a:off x="4773168" y="3886200"/>
            <a:ext cx="914400" cy="164592"/>
          </a:xfrm>
          <a:prstGeom prst="rect">
            <a:avLst/>
          </a:prstGeom>
          <a:noFill/>
          <a:ln/>
        </p:spPr>
        <p:txBody>
          <a:bodyPr wrap="square" lIns="0" tIns="0" rIns="0" bIns="0" rtlCol="0" anchor="ctr"/>
          <a:lstStyle/>
          <a:p>
            <a:pPr marL="0" indent="0">
              <a:buNone/>
            </a:pPr>
            <a:r>
              <a:rPr lang="en-US" sz="800" i="1" dirty="0">
                <a:solidFill>
                  <a:srgbClr val="CADCFC"/>
                </a:solidFill>
                <a:latin typeface="Calibri" pitchFamily="34" charset="0"/>
                <a:ea typeface="Calibri" pitchFamily="34" charset="-122"/>
                <a:cs typeface="Calibri" pitchFamily="34" charset="-120"/>
              </a:rPr>
              <a:t>output</a:t>
            </a:r>
            <a:endParaRPr lang="en-US" sz="800" dirty="0"/>
          </a:p>
        </p:txBody>
      </p:sp>
      <p:sp>
        <p:nvSpPr>
          <p:cNvPr id="14" name="Text 11"/>
          <p:cNvSpPr txBox="1"/>
          <p:nvPr/>
        </p:nvSpPr>
        <p:spPr>
          <a:xfrm>
            <a:off x="4773168" y="4059936"/>
            <a:ext cx="3803904" cy="566928"/>
          </a:xfrm>
          <a:prstGeom prst="rect">
            <a:avLst/>
          </a:prstGeom>
          <a:noFill/>
          <a:ln/>
        </p:spPr>
        <p:txBody>
          <a:bodyPr wrap="square" lIns="0" tIns="0" rIns="0" bIns="0" rtlCol="0" anchor="t"/>
          <a:lstStyle/>
          <a:p>
            <a:pPr marL="0" indent="0">
              <a:lnSpc>
                <a:spcPct val="105000"/>
              </a:lnSpc>
              <a:buNone/>
            </a:pPr>
            <a:r>
              <a:rPr lang="en-US" sz="800" dirty="0">
                <a:solidFill>
                  <a:srgbClr val="FFFFFF"/>
                </a:solidFill>
                <a:latin typeface="Courier New" pitchFamily="34" charset="0"/>
                <a:ea typeface="Courier New" pitchFamily="34" charset="-122"/>
                <a:cs typeface="Courier New" pitchFamily="34" charset="-120"/>
              </a:rPr>
              <a:t>&gt;&gt;&gt; laptop.price = -1</a:t>
            </a:r>
            <a:endParaRPr lang="en-US" sz="800" dirty="0"/>
          </a:p>
          <a:p>
            <a:pPr marL="0" indent="0">
              <a:lnSpc>
                <a:spcPct val="105000"/>
              </a:lnSpc>
              <a:buNone/>
            </a:pPr>
            <a:r>
              <a:rPr lang="en-US" sz="800" dirty="0">
                <a:solidFill>
                  <a:srgbClr val="FFFFFF"/>
                </a:solidFill>
                <a:latin typeface="Courier New" pitchFamily="34" charset="0"/>
                <a:ea typeface="Courier New" pitchFamily="34" charset="-122"/>
                <a:cs typeface="Courier New" pitchFamily="34" charset="-120"/>
              </a:rPr>
              <a:t>ValueError: Price cannot be negative</a:t>
            </a:r>
            <a:endParaRPr lang="en-US" sz="800" dirty="0"/>
          </a:p>
          <a:p>
            <a:pPr marL="0" indent="0">
              <a:lnSpc>
                <a:spcPct val="105000"/>
              </a:lnSpc>
              <a:buNone/>
            </a:pPr>
            <a:r>
              <a:rPr lang="en-US" sz="800" dirty="0">
                <a:solidFill>
                  <a:srgbClr val="FFFFFF"/>
                </a:solidFill>
                <a:latin typeface="Courier New" pitchFamily="34" charset="0"/>
                <a:ea typeface="Courier New" pitchFamily="34" charset="-122"/>
                <a:cs typeface="Courier New" pitchFamily="34" charset="-120"/>
              </a:rPr>
              <a:t>&gt;&gt;&gt; laptop.__product_id</a:t>
            </a:r>
            <a:endParaRPr lang="en-US" sz="800" dirty="0"/>
          </a:p>
          <a:p>
            <a:pPr marL="0" indent="0">
              <a:lnSpc>
                <a:spcPct val="105000"/>
              </a:lnSpc>
              <a:buNone/>
            </a:pPr>
            <a:r>
              <a:rPr lang="en-US" sz="800" dirty="0">
                <a:solidFill>
                  <a:srgbClr val="FFFFFF"/>
                </a:solidFill>
                <a:latin typeface="Courier New" pitchFamily="34" charset="0"/>
                <a:ea typeface="Courier New" pitchFamily="34" charset="-122"/>
                <a:cs typeface="Courier New" pitchFamily="34" charset="-120"/>
              </a:rPr>
              <a:t>AttributeError   # stored as _Product__product_id</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138160" y="4773168"/>
            <a:ext cx="640080" cy="256032"/>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9 / 13</a:t>
            </a:r>
            <a:endParaRPr lang="en-US" sz="900" dirty="0"/>
          </a:p>
        </p:txBody>
      </p:sp>
      <p:sp>
        <p:nvSpPr>
          <p:cNvPr id="3" name="Shape 1"/>
          <p:cNvSpPr/>
          <p:nvPr/>
        </p:nvSpPr>
        <p:spPr>
          <a:xfrm>
            <a:off x="457200" y="292608"/>
            <a:ext cx="1645920" cy="237744"/>
          </a:xfrm>
          <a:prstGeom prst="roundRect">
            <a:avLst>
              <a:gd name="adj" fmla="val 50000"/>
            </a:avLst>
          </a:prstGeom>
          <a:solidFill>
            <a:srgbClr val="E07A2F"/>
          </a:solidFill>
          <a:ln w="12700">
            <a:solidFill>
              <a:srgbClr val="E07A2F"/>
            </a:solidFill>
            <a:prstDash val="solid"/>
          </a:ln>
        </p:spPr>
        <p:txBody>
          <a:bodyPr/>
          <a:lstStyle/>
          <a:p>
            <a:endParaRPr lang="tr-TR"/>
          </a:p>
        </p:txBody>
      </p:sp>
      <p:sp>
        <p:nvSpPr>
          <p:cNvPr id="4" name="Text 2"/>
          <p:cNvSpPr txBox="1"/>
          <p:nvPr/>
        </p:nvSpPr>
        <p:spPr>
          <a:xfrm>
            <a:off x="457200" y="292608"/>
            <a:ext cx="1645920" cy="237744"/>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ENCAPSULATION</a:t>
            </a:r>
            <a:endParaRPr lang="en-US" sz="900" dirty="0"/>
          </a:p>
        </p:txBody>
      </p:sp>
      <p:sp>
        <p:nvSpPr>
          <p:cNvPr id="5" name="Text 3"/>
          <p:cNvSpPr txBox="1"/>
          <p:nvPr/>
        </p:nvSpPr>
        <p:spPr>
          <a:xfrm>
            <a:off x="457200" y="566928"/>
            <a:ext cx="8229600" cy="457200"/>
          </a:xfrm>
          <a:prstGeom prst="rect">
            <a:avLst/>
          </a:prstGeom>
          <a:noFill/>
          <a:ln/>
        </p:spPr>
        <p:txBody>
          <a:bodyPr wrap="square" lIns="0" tIns="0" rIns="0" bIns="0" rtlCol="0" anchor="ctr"/>
          <a:lstStyle/>
          <a:p>
            <a:pPr marL="0" indent="0">
              <a:buNone/>
            </a:pPr>
            <a:r>
              <a:rPr lang="en-US" sz="2600" b="1" dirty="0">
                <a:solidFill>
                  <a:srgbClr val="1F2A44"/>
                </a:solidFill>
                <a:latin typeface="Cambria" pitchFamily="34" charset="0"/>
                <a:ea typeface="Cambria" pitchFamily="34" charset="-122"/>
                <a:cs typeface="Cambria" pitchFamily="34" charset="-120"/>
              </a:rPr>
              <a:t>Encapsulation and Information Hiding</a:t>
            </a:r>
            <a:endParaRPr lang="en-US" sz="2600" dirty="0"/>
          </a:p>
        </p:txBody>
      </p:sp>
      <p:sp>
        <p:nvSpPr>
          <p:cNvPr id="6" name="Shape 4"/>
          <p:cNvSpPr/>
          <p:nvPr/>
        </p:nvSpPr>
        <p:spPr>
          <a:xfrm>
            <a:off x="457200" y="1143000"/>
            <a:ext cx="4480560" cy="3520440"/>
          </a:xfrm>
          <a:prstGeom prst="roundRect">
            <a:avLst>
              <a:gd name="adj" fmla="val 2078"/>
            </a:avLst>
          </a:prstGeom>
          <a:solidFill>
            <a:srgbClr val="F1F3F6"/>
          </a:solidFill>
          <a:ln w="9525">
            <a:solidFill>
              <a:srgbClr val="DDE1E7"/>
            </a:solidFill>
            <a:prstDash val="solid"/>
          </a:ln>
        </p:spPr>
        <p:txBody>
          <a:bodyPr/>
          <a:lstStyle/>
          <a:p>
            <a:endParaRPr lang="tr-TR"/>
          </a:p>
        </p:txBody>
      </p:sp>
      <p:sp>
        <p:nvSpPr>
          <p:cNvPr id="7" name="Text 5"/>
          <p:cNvSpPr txBox="1"/>
          <p:nvPr/>
        </p:nvSpPr>
        <p:spPr>
          <a:xfrm>
            <a:off x="566928" y="1216152"/>
            <a:ext cx="4261104" cy="3374136"/>
          </a:xfrm>
          <a:prstGeom prst="rect">
            <a:avLst/>
          </a:prstGeom>
          <a:noFill/>
          <a:ln/>
        </p:spPr>
        <p:txBody>
          <a:bodyPr wrap="square" lIns="0" tIns="0" rIns="0" bIns="0" rtlCol="0" anchor="t"/>
          <a:lstStyle/>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class ShoppingCart:</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def __init__(self):</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self.__lines = {}      # id(item) -&gt; [item, qty]</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def add(self, item, quantity=1):</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if quantity &lt;= 0:</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raise ValueError("Quantity must be positive")</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key = id(item)</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if key in self.__lines:</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self.__lines[key][1] += quantity</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else:</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self.__lines[key] = [item, quantity]</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def lines(self):</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 snapshot copy: callers never touch the dict</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return [(i, q) for i, q in self.__lines.values()]</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class Customer(User):</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@property</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def orders(self):</a:t>
            </a:r>
            <a:endParaRPr lang="en-US" sz="950" dirty="0"/>
          </a:p>
          <a:p>
            <a:pPr marL="0" indent="0">
              <a:lnSpc>
                <a:spcPct val="105000"/>
              </a:lnSpc>
              <a:buNone/>
            </a:pPr>
            <a:r>
              <a:rPr lang="en-US" sz="950" dirty="0">
                <a:solidFill>
                  <a:srgbClr val="1F2A44"/>
                </a:solidFill>
                <a:latin typeface="Courier New" pitchFamily="34" charset="0"/>
                <a:ea typeface="Courier New" pitchFamily="34" charset="-122"/>
                <a:cs typeface="Courier New" pitchFamily="34" charset="-120"/>
              </a:rPr>
              <a:t>        return tuple(self._orders)   # immutable view</a:t>
            </a:r>
            <a:endParaRPr lang="en-US" sz="950" dirty="0"/>
          </a:p>
        </p:txBody>
      </p:sp>
      <p:sp>
        <p:nvSpPr>
          <p:cNvPr id="8" name="Text 6"/>
          <p:cNvSpPr txBox="1"/>
          <p:nvPr/>
        </p:nvSpPr>
        <p:spPr>
          <a:xfrm>
            <a:off x="5166360" y="1143000"/>
            <a:ext cx="3520440" cy="256032"/>
          </a:xfrm>
          <a:prstGeom prst="rect">
            <a:avLst/>
          </a:prstGeom>
          <a:noFill/>
          <a:ln/>
        </p:spPr>
        <p:txBody>
          <a:bodyPr wrap="square" lIns="0" tIns="0" rIns="0" bIns="0" rtlCol="0" anchor="ctr"/>
          <a:lstStyle/>
          <a:p>
            <a:pPr marL="0" indent="0">
              <a:buNone/>
            </a:pPr>
            <a:r>
              <a:rPr lang="en-US" sz="1200" b="1" dirty="0">
                <a:solidFill>
                  <a:srgbClr val="2A9D8F"/>
                </a:solidFill>
                <a:latin typeface="Calibri" pitchFamily="34" charset="0"/>
                <a:ea typeface="Calibri" pitchFamily="34" charset="-122"/>
                <a:cs typeface="Calibri" pitchFamily="34" charset="-120"/>
              </a:rPr>
              <a:t>Encapsulation</a:t>
            </a:r>
            <a:endParaRPr lang="en-US" sz="1200" dirty="0"/>
          </a:p>
        </p:txBody>
      </p:sp>
      <p:sp>
        <p:nvSpPr>
          <p:cNvPr id="9" name="Text 7"/>
          <p:cNvSpPr txBox="1"/>
          <p:nvPr/>
        </p:nvSpPr>
        <p:spPr>
          <a:xfrm>
            <a:off x="5166360" y="1417320"/>
            <a:ext cx="3520440" cy="640080"/>
          </a:xfrm>
          <a:prstGeom prst="rect">
            <a:avLst/>
          </a:prstGeom>
          <a:noFill/>
          <a:ln/>
        </p:spPr>
        <p:txBody>
          <a:bodyPr wrap="square" lIns="0" tIns="0" rIns="0" bIns="0" rtlCol="0" anchor="t"/>
          <a:lstStyle/>
          <a:p>
            <a:pPr marL="0" indent="0">
              <a:buNone/>
            </a:pPr>
            <a:r>
              <a:rPr lang="en-US" sz="1100" dirty="0">
                <a:solidFill>
                  <a:srgbClr val="1F2A44"/>
                </a:solidFill>
                <a:latin typeface="Calibri" pitchFamily="34" charset="0"/>
                <a:ea typeface="Calibri" pitchFamily="34" charset="-122"/>
                <a:cs typeface="Calibri" pitchFamily="34" charset="-120"/>
              </a:rPr>
              <a:t>Data and the methods that operate on it live in one unit. The cart's dictionary and the rules for adding to it cannot drift apart.</a:t>
            </a:r>
            <a:endParaRPr lang="en-US" sz="1100" dirty="0"/>
          </a:p>
        </p:txBody>
      </p:sp>
      <p:sp>
        <p:nvSpPr>
          <p:cNvPr id="10" name="Text 8"/>
          <p:cNvSpPr txBox="1"/>
          <p:nvPr/>
        </p:nvSpPr>
        <p:spPr>
          <a:xfrm>
            <a:off x="5166360" y="2103120"/>
            <a:ext cx="3520440" cy="256032"/>
          </a:xfrm>
          <a:prstGeom prst="rect">
            <a:avLst/>
          </a:prstGeom>
          <a:noFill/>
          <a:ln/>
        </p:spPr>
        <p:txBody>
          <a:bodyPr wrap="square" lIns="0" tIns="0" rIns="0" bIns="0" rtlCol="0" anchor="ctr"/>
          <a:lstStyle/>
          <a:p>
            <a:pPr marL="0" indent="0">
              <a:buNone/>
            </a:pPr>
            <a:r>
              <a:rPr lang="en-US" sz="1200" b="1" dirty="0">
                <a:solidFill>
                  <a:srgbClr val="2A9D8F"/>
                </a:solidFill>
                <a:latin typeface="Calibri" pitchFamily="34" charset="0"/>
                <a:ea typeface="Calibri" pitchFamily="34" charset="-122"/>
                <a:cs typeface="Calibri" pitchFamily="34" charset="-120"/>
              </a:rPr>
              <a:t>Information hiding</a:t>
            </a:r>
            <a:endParaRPr lang="en-US" sz="1200" dirty="0"/>
          </a:p>
        </p:txBody>
      </p:sp>
      <p:sp>
        <p:nvSpPr>
          <p:cNvPr id="11" name="Text 9"/>
          <p:cNvSpPr txBox="1"/>
          <p:nvPr/>
        </p:nvSpPr>
        <p:spPr>
          <a:xfrm>
            <a:off x="5166360" y="2377440"/>
            <a:ext cx="3520440" cy="960120"/>
          </a:xfrm>
          <a:prstGeom prst="rect">
            <a:avLst/>
          </a:prstGeom>
          <a:noFill/>
          <a:ln/>
        </p:spPr>
        <p:txBody>
          <a:bodyPr wrap="square" lIns="0" tIns="0" rIns="0" bIns="0" rtlCol="0" anchor="t"/>
          <a:lstStyle/>
          <a:p>
            <a:pPr marL="0" indent="0">
              <a:buNone/>
            </a:pPr>
            <a:r>
              <a:rPr lang="en-US" sz="1100" dirty="0">
                <a:solidFill>
                  <a:srgbClr val="1F2A44"/>
                </a:solidFill>
                <a:latin typeface="Calibri" pitchFamily="34" charset="0"/>
                <a:ea typeface="Calibri" pitchFamily="34" charset="-122"/>
                <a:cs typeface="Calibri" pitchFamily="34" charset="-120"/>
              </a:rPr>
              <a:t>Callers depend only on add(), remove(), lines(). The dictionary could become a list or a database table with zero changes outside the class. Copies and tuples are returned so external code cannot mutate internal state.</a:t>
            </a:r>
            <a:endParaRPr lang="en-US" sz="1100" dirty="0"/>
          </a:p>
        </p:txBody>
      </p:sp>
      <p:sp>
        <p:nvSpPr>
          <p:cNvPr id="12" name="Text 10"/>
          <p:cNvSpPr txBox="1"/>
          <p:nvPr/>
        </p:nvSpPr>
        <p:spPr>
          <a:xfrm>
            <a:off x="5166360" y="3310128"/>
            <a:ext cx="3520440" cy="640080"/>
          </a:xfrm>
          <a:prstGeom prst="rect">
            <a:avLst/>
          </a:prstGeom>
          <a:noFill/>
          <a:ln/>
        </p:spPr>
        <p:txBody>
          <a:bodyPr wrap="square" lIns="25400" tIns="25400" rIns="25400" bIns="25400" rtlCol="0" anchor="t"/>
          <a:lstStyle/>
          <a:p>
            <a:pPr marL="152400" indent="-152400">
              <a:spcAft>
                <a:spcPts val="600"/>
              </a:spcAft>
              <a:buSzPct val="100000"/>
              <a:buChar char="•"/>
            </a:pPr>
            <a:r>
              <a:rPr lang="en-US" sz="1050" dirty="0">
                <a:solidFill>
                  <a:srgbClr val="1F2A44"/>
                </a:solidFill>
                <a:latin typeface="Calibri" pitchFamily="34" charset="0"/>
                <a:ea typeface="Calibri" pitchFamily="34" charset="-122"/>
                <a:cs typeface="Calibri" pitchFamily="34" charset="-120"/>
              </a:rPr>
              <a:t>Invariants (quantity &gt; 0, price &gt;= 0) are checked in one place</a:t>
            </a:r>
            <a:endParaRPr lang="en-US" sz="1050" dirty="0"/>
          </a:p>
          <a:p>
            <a:pPr marL="152400" indent="-152400">
              <a:spcAft>
                <a:spcPts val="600"/>
              </a:spcAft>
              <a:buSzPct val="100000"/>
              <a:buChar char="•"/>
            </a:pPr>
            <a:r>
              <a:rPr lang="en-US" sz="1050" dirty="0">
                <a:solidFill>
                  <a:srgbClr val="1F2A44"/>
                </a:solidFill>
                <a:latin typeface="Calibri" pitchFamily="34" charset="0"/>
                <a:ea typeface="Calibri" pitchFamily="34" charset="-122"/>
                <a:cs typeface="Calibri" pitchFamily="34" charset="-120"/>
              </a:rPr>
              <a:t>Merging duplicate lines is a detail callers never see</a:t>
            </a:r>
            <a:endParaRPr lang="en-US" sz="1050" dirty="0"/>
          </a:p>
        </p:txBody>
      </p:sp>
      <p:sp>
        <p:nvSpPr>
          <p:cNvPr id="13" name="Shape 11"/>
          <p:cNvSpPr/>
          <p:nvPr/>
        </p:nvSpPr>
        <p:spPr>
          <a:xfrm>
            <a:off x="5166360" y="3977640"/>
            <a:ext cx="3520440" cy="704088"/>
          </a:xfrm>
          <a:prstGeom prst="roundRect">
            <a:avLst>
              <a:gd name="adj" fmla="val 10390"/>
            </a:avLst>
          </a:prstGeom>
          <a:solidFill>
            <a:srgbClr val="FDF1E7"/>
          </a:solidFill>
          <a:ln w="12700">
            <a:solidFill>
              <a:srgbClr val="FDF1E7"/>
            </a:solidFill>
            <a:prstDash val="solid"/>
          </a:ln>
        </p:spPr>
        <p:txBody>
          <a:bodyPr/>
          <a:lstStyle/>
          <a:p>
            <a:endParaRPr lang="tr-TR"/>
          </a:p>
        </p:txBody>
      </p:sp>
      <p:sp>
        <p:nvSpPr>
          <p:cNvPr id="14" name="Text 12"/>
          <p:cNvSpPr txBox="1"/>
          <p:nvPr/>
        </p:nvSpPr>
        <p:spPr>
          <a:xfrm>
            <a:off x="5276088" y="4032504"/>
            <a:ext cx="3300984" cy="594360"/>
          </a:xfrm>
          <a:prstGeom prst="rect">
            <a:avLst/>
          </a:prstGeom>
          <a:noFill/>
          <a:ln/>
        </p:spPr>
        <p:txBody>
          <a:bodyPr wrap="square" lIns="0" tIns="0" rIns="0" bIns="0" rtlCol="0" anchor="t"/>
          <a:lstStyle/>
          <a:p>
            <a:pPr marL="0" indent="0">
              <a:buNone/>
            </a:pPr>
            <a:r>
              <a:rPr lang="en-US" sz="950" b="1" dirty="0">
                <a:solidFill>
                  <a:srgbClr val="E07A2F"/>
                </a:solidFill>
                <a:latin typeface="Calibri" pitchFamily="34" charset="0"/>
                <a:ea typeface="Calibri" pitchFamily="34" charset="-122"/>
                <a:cs typeface="Calibri" pitchFamily="34" charset="-120"/>
              </a:rPr>
              <a:t>Trade-off  </a:t>
            </a:r>
            <a:r>
              <a:rPr lang="en-US" sz="950" dirty="0">
                <a:solidFill>
                  <a:srgbClr val="1F2A44"/>
                </a:solidFill>
                <a:latin typeface="Calibri" pitchFamily="34" charset="0"/>
                <a:ea typeface="Calibri" pitchFamily="34" charset="-122"/>
                <a:cs typeface="Calibri" pitchFamily="34" charset="-120"/>
              </a:rPr>
              <a:t>Returning a copy on every lines() / orders call is O(n). Fine at cart scale; for a large order history a read-only view (types.MappingProxyType) or pagination would replace the copy.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138160" y="4773168"/>
            <a:ext cx="640080" cy="256032"/>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10 / 13</a:t>
            </a:r>
            <a:endParaRPr lang="en-US" sz="900" dirty="0"/>
          </a:p>
        </p:txBody>
      </p:sp>
      <p:sp>
        <p:nvSpPr>
          <p:cNvPr id="3" name="Shape 1"/>
          <p:cNvSpPr/>
          <p:nvPr/>
        </p:nvSpPr>
        <p:spPr>
          <a:xfrm>
            <a:off x="457200" y="292608"/>
            <a:ext cx="1828800" cy="237744"/>
          </a:xfrm>
          <a:prstGeom prst="roundRect">
            <a:avLst>
              <a:gd name="adj" fmla="val 50000"/>
            </a:avLst>
          </a:prstGeom>
          <a:solidFill>
            <a:srgbClr val="E07A2F"/>
          </a:solidFill>
          <a:ln w="12700">
            <a:solidFill>
              <a:srgbClr val="E07A2F"/>
            </a:solidFill>
            <a:prstDash val="solid"/>
          </a:ln>
        </p:spPr>
        <p:txBody>
          <a:bodyPr/>
          <a:lstStyle/>
          <a:p>
            <a:endParaRPr lang="tr-TR"/>
          </a:p>
        </p:txBody>
      </p:sp>
      <p:sp>
        <p:nvSpPr>
          <p:cNvPr id="4" name="Text 2"/>
          <p:cNvSpPr txBox="1"/>
          <p:nvPr/>
        </p:nvSpPr>
        <p:spPr>
          <a:xfrm>
            <a:off x="457200" y="292608"/>
            <a:ext cx="1828800" cy="237744"/>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ABSTRACT DATA TYPES</a:t>
            </a:r>
            <a:endParaRPr lang="en-US" sz="900" dirty="0"/>
          </a:p>
        </p:txBody>
      </p:sp>
      <p:sp>
        <p:nvSpPr>
          <p:cNvPr id="5" name="Text 3"/>
          <p:cNvSpPr txBox="1"/>
          <p:nvPr/>
        </p:nvSpPr>
        <p:spPr>
          <a:xfrm>
            <a:off x="457200" y="566928"/>
            <a:ext cx="8229600" cy="457200"/>
          </a:xfrm>
          <a:prstGeom prst="rect">
            <a:avLst/>
          </a:prstGeom>
          <a:noFill/>
          <a:ln/>
        </p:spPr>
        <p:txBody>
          <a:bodyPr wrap="square" lIns="0" tIns="0" rIns="0" bIns="0" rtlCol="0" anchor="ctr"/>
          <a:lstStyle/>
          <a:p>
            <a:pPr marL="0" indent="0">
              <a:buNone/>
            </a:pPr>
            <a:r>
              <a:rPr lang="en-US" sz="2600" b="1" dirty="0">
                <a:solidFill>
                  <a:srgbClr val="1F2A44"/>
                </a:solidFill>
                <a:latin typeface="Cambria" pitchFamily="34" charset="0"/>
                <a:ea typeface="Cambria" pitchFamily="34" charset="-122"/>
                <a:cs typeface="Cambria" pitchFamily="34" charset="-120"/>
              </a:rPr>
              <a:t>Abstract Data Types and Interfaces</a:t>
            </a:r>
            <a:endParaRPr lang="en-US" sz="2600" dirty="0"/>
          </a:p>
        </p:txBody>
      </p:sp>
      <p:pic>
        <p:nvPicPr>
          <p:cNvPr id="6" name="Image 0" descr="preencoded.png"/>
          <p:cNvPicPr>
            <a:picLocks noChangeAspect="1"/>
          </p:cNvPicPr>
          <p:nvPr/>
        </p:nvPicPr>
        <p:blipFill>
          <a:blip r:embed="rId3"/>
          <a:stretch>
            <a:fillRect/>
          </a:stretch>
        </p:blipFill>
        <p:spPr>
          <a:xfrm>
            <a:off x="457200" y="1097280"/>
            <a:ext cx="5623560" cy="3035808"/>
          </a:xfrm>
          <a:prstGeom prst="rect">
            <a:avLst/>
          </a:prstGeom>
        </p:spPr>
      </p:pic>
      <p:sp>
        <p:nvSpPr>
          <p:cNvPr id="7" name="Text 4"/>
          <p:cNvSpPr txBox="1"/>
          <p:nvPr/>
        </p:nvSpPr>
        <p:spPr>
          <a:xfrm>
            <a:off x="6263640" y="1097280"/>
            <a:ext cx="2423160" cy="3063240"/>
          </a:xfrm>
          <a:prstGeom prst="rect">
            <a:avLst/>
          </a:prstGeom>
          <a:noFill/>
          <a:ln/>
        </p:spPr>
        <p:txBody>
          <a:bodyPr wrap="square" lIns="25400" tIns="25400" rIns="25400" bIns="25400" rtlCol="0" anchor="t"/>
          <a:lstStyle/>
          <a:p>
            <a:pPr marL="152400" indent="-152400">
              <a:spcAft>
                <a:spcPts val="600"/>
              </a:spcAft>
              <a:buSzPct val="100000"/>
              <a:buChar char="•"/>
            </a:pPr>
            <a:r>
              <a:rPr lang="en-US" sz="1000" dirty="0">
                <a:solidFill>
                  <a:srgbClr val="1F2A44"/>
                </a:solidFill>
                <a:latin typeface="Calibri" pitchFamily="34" charset="0"/>
                <a:ea typeface="Calibri" pitchFamily="34" charset="-122"/>
                <a:cs typeface="Calibri" pitchFamily="34" charset="-120"/>
              </a:rPr>
              <a:t>An ADT is defined by its operations and their behaviour, not by storage: ShoppingCart = add, remove, lines, is_empty, clear</a:t>
            </a:r>
            <a:endParaRPr lang="en-US" sz="1000" dirty="0"/>
          </a:p>
          <a:p>
            <a:pPr marL="152400" indent="-152400">
              <a:spcAft>
                <a:spcPts val="600"/>
              </a:spcAft>
              <a:buSzPct val="100000"/>
              <a:buChar char="•"/>
            </a:pPr>
            <a:r>
              <a:rPr lang="en-US" sz="1000" dirty="0">
                <a:solidFill>
                  <a:srgbClr val="1F2A44"/>
                </a:solidFill>
                <a:latin typeface="Calibri" pitchFamily="34" charset="0"/>
                <a:ea typeface="Calibri" pitchFamily="34" charset="-122"/>
                <a:cs typeface="Calibri" pitchFamily="34" charset="-120"/>
              </a:rPr>
              <a:t>Orderable is the interface that lets Order and ShoppingCart hold Products and GiftCards interchangeably</a:t>
            </a:r>
            <a:endParaRPr lang="en-US" sz="1000" dirty="0"/>
          </a:p>
          <a:p>
            <a:pPr marL="152400" indent="-152400">
              <a:spcAft>
                <a:spcPts val="600"/>
              </a:spcAft>
              <a:buSzPct val="100000"/>
              <a:buChar char="•"/>
            </a:pPr>
            <a:r>
              <a:rPr lang="en-US" sz="1000" dirty="0">
                <a:solidFill>
                  <a:srgbClr val="1F2A44"/>
                </a:solidFill>
                <a:latin typeface="Calibri" pitchFamily="34" charset="0"/>
                <a:ea typeface="Calibri" pitchFamily="34" charset="-122"/>
                <a:cs typeface="Calibri" pitchFamily="34" charset="-120"/>
              </a:rPr>
              <a:t>Order.from_cart() joins two abstractions through public operations only</a:t>
            </a:r>
            <a:endParaRPr lang="en-US" sz="1000" dirty="0"/>
          </a:p>
          <a:p>
            <a:pPr marL="152400" indent="-152400">
              <a:spcAft>
                <a:spcPts val="600"/>
              </a:spcAft>
              <a:buSzPct val="100000"/>
              <a:buChar char="•"/>
            </a:pPr>
            <a:r>
              <a:rPr lang="en-US" sz="1000" dirty="0">
                <a:solidFill>
                  <a:srgbClr val="1F2A44"/>
                </a:solidFill>
                <a:latin typeface="Calibri" pitchFamily="34" charset="0"/>
                <a:ea typeface="Calibri" pitchFamily="34" charset="-122"/>
                <a:cs typeface="Calibri" pitchFamily="34" charset="-120"/>
              </a:rPr>
              <a:t>A new item type (e.g. Subscription) is one new class; Order, ShoppingCart and Customer are untouched</a:t>
            </a:r>
            <a:endParaRPr lang="en-US" sz="1000" dirty="0"/>
          </a:p>
        </p:txBody>
      </p:sp>
      <p:sp>
        <p:nvSpPr>
          <p:cNvPr id="8" name="Shape 5"/>
          <p:cNvSpPr/>
          <p:nvPr/>
        </p:nvSpPr>
        <p:spPr>
          <a:xfrm>
            <a:off x="457200" y="4206240"/>
            <a:ext cx="8229600" cy="502920"/>
          </a:xfrm>
          <a:prstGeom prst="roundRect">
            <a:avLst>
              <a:gd name="adj" fmla="val 14545"/>
            </a:avLst>
          </a:prstGeom>
          <a:solidFill>
            <a:srgbClr val="FDF1E7"/>
          </a:solidFill>
          <a:ln w="12700">
            <a:solidFill>
              <a:srgbClr val="FDF1E7"/>
            </a:solidFill>
            <a:prstDash val="solid"/>
          </a:ln>
        </p:spPr>
        <p:txBody>
          <a:bodyPr/>
          <a:lstStyle/>
          <a:p>
            <a:endParaRPr lang="tr-TR"/>
          </a:p>
        </p:txBody>
      </p:sp>
      <p:sp>
        <p:nvSpPr>
          <p:cNvPr id="9" name="Text 6"/>
          <p:cNvSpPr txBox="1"/>
          <p:nvPr/>
        </p:nvSpPr>
        <p:spPr>
          <a:xfrm>
            <a:off x="566928" y="4261104"/>
            <a:ext cx="8010144" cy="393192"/>
          </a:xfrm>
          <a:prstGeom prst="rect">
            <a:avLst/>
          </a:prstGeom>
          <a:noFill/>
          <a:ln/>
        </p:spPr>
        <p:txBody>
          <a:bodyPr wrap="square" lIns="0" tIns="0" rIns="0" bIns="0" rtlCol="0" anchor="t"/>
          <a:lstStyle/>
          <a:p>
            <a:pPr marL="0" indent="0">
              <a:buNone/>
            </a:pPr>
            <a:r>
              <a:rPr lang="en-US" sz="950" b="1" dirty="0">
                <a:solidFill>
                  <a:srgbClr val="E07A2F"/>
                </a:solidFill>
                <a:latin typeface="Calibri" pitchFamily="34" charset="0"/>
                <a:ea typeface="Calibri" pitchFamily="34" charset="-122"/>
                <a:cs typeface="Calibri" pitchFamily="34" charset="-120"/>
              </a:rPr>
              <a:t>Reusability  </a:t>
            </a:r>
            <a:r>
              <a:rPr lang="en-US" sz="950" dirty="0">
                <a:solidFill>
                  <a:srgbClr val="1F2A44"/>
                </a:solidFill>
                <a:latin typeface="Calibri" pitchFamily="34" charset="0"/>
                <a:ea typeface="Calibri" pitchFamily="34" charset="-122"/>
                <a:cs typeface="Calibri" pitchFamily="34" charset="-120"/>
              </a:rPr>
              <a:t>Order depends on Orderable, never on Product. A database-backed product class that honours the three methods can replace Product without any change to ordering logic - the design is open to extension and closed to modification.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2A44"/>
        </a:solidFill>
        <a:effectLst/>
      </p:bgPr>
    </p:bg>
    <p:spTree>
      <p:nvGrpSpPr>
        <p:cNvPr id="1" name=""/>
        <p:cNvGrpSpPr/>
        <p:nvPr/>
      </p:nvGrpSpPr>
      <p:grpSpPr>
        <a:xfrm>
          <a:off x="0" y="0"/>
          <a:ext cx="0" cy="0"/>
          <a:chOff x="0" y="0"/>
          <a:chExt cx="0" cy="0"/>
        </a:xfrm>
      </p:grpSpPr>
      <p:sp>
        <p:nvSpPr>
          <p:cNvPr id="2" name="Text 0"/>
          <p:cNvSpPr txBox="1"/>
          <p:nvPr/>
        </p:nvSpPr>
        <p:spPr>
          <a:xfrm>
            <a:off x="8138160" y="4773168"/>
            <a:ext cx="640080" cy="256032"/>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11 / 13</a:t>
            </a:r>
            <a:endParaRPr lang="en-US" sz="900" dirty="0"/>
          </a:p>
        </p:txBody>
      </p:sp>
      <p:sp>
        <p:nvSpPr>
          <p:cNvPr id="3" name="Shape 1"/>
          <p:cNvSpPr/>
          <p:nvPr/>
        </p:nvSpPr>
        <p:spPr>
          <a:xfrm>
            <a:off x="457200" y="292608"/>
            <a:ext cx="1371600" cy="237744"/>
          </a:xfrm>
          <a:prstGeom prst="roundRect">
            <a:avLst>
              <a:gd name="adj" fmla="val 50000"/>
            </a:avLst>
          </a:prstGeom>
          <a:solidFill>
            <a:srgbClr val="E07A2F"/>
          </a:solidFill>
          <a:ln w="12700">
            <a:solidFill>
              <a:srgbClr val="E07A2F"/>
            </a:solidFill>
            <a:prstDash val="solid"/>
          </a:ln>
        </p:spPr>
        <p:txBody>
          <a:bodyPr/>
          <a:lstStyle/>
          <a:p>
            <a:endParaRPr lang="tr-TR"/>
          </a:p>
        </p:txBody>
      </p:sp>
      <p:sp>
        <p:nvSpPr>
          <p:cNvPr id="4" name="Text 2"/>
          <p:cNvSpPr txBox="1"/>
          <p:nvPr/>
        </p:nvSpPr>
        <p:spPr>
          <a:xfrm>
            <a:off x="457200" y="292608"/>
            <a:ext cx="1371600" cy="237744"/>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CONCLUSION</a:t>
            </a:r>
            <a:endParaRPr lang="en-US" sz="900" dirty="0"/>
          </a:p>
        </p:txBody>
      </p:sp>
      <p:sp>
        <p:nvSpPr>
          <p:cNvPr id="5" name="Text 3"/>
          <p:cNvSpPr txBox="1"/>
          <p:nvPr/>
        </p:nvSpPr>
        <p:spPr>
          <a:xfrm>
            <a:off x="457200" y="566928"/>
            <a:ext cx="8229600" cy="4572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Recap and Critical Evaluation</a:t>
            </a:r>
            <a:endParaRPr lang="en-US" sz="2600" dirty="0"/>
          </a:p>
        </p:txBody>
      </p:sp>
      <p:sp>
        <p:nvSpPr>
          <p:cNvPr id="6" name="Shape 4"/>
          <p:cNvSpPr/>
          <p:nvPr/>
        </p:nvSpPr>
        <p:spPr>
          <a:xfrm>
            <a:off x="457200" y="1143000"/>
            <a:ext cx="1965960" cy="1097280"/>
          </a:xfrm>
          <a:prstGeom prst="roundRect">
            <a:avLst>
              <a:gd name="adj" fmla="val 6667"/>
            </a:avLst>
          </a:prstGeom>
          <a:solidFill>
            <a:srgbClr val="2B3A5C"/>
          </a:solidFill>
          <a:ln w="12700">
            <a:solidFill>
              <a:srgbClr val="2B3A5C"/>
            </a:solidFill>
            <a:prstDash val="solid"/>
          </a:ln>
        </p:spPr>
        <p:txBody>
          <a:bodyPr/>
          <a:lstStyle/>
          <a:p>
            <a:endParaRPr lang="tr-TR"/>
          </a:p>
        </p:txBody>
      </p:sp>
      <p:sp>
        <p:nvSpPr>
          <p:cNvPr id="7" name="Text 5"/>
          <p:cNvSpPr txBox="1"/>
          <p:nvPr/>
        </p:nvSpPr>
        <p:spPr>
          <a:xfrm>
            <a:off x="566928" y="1207008"/>
            <a:ext cx="1783080" cy="274320"/>
          </a:xfrm>
          <a:prstGeom prst="rect">
            <a:avLst/>
          </a:prstGeom>
          <a:noFill/>
          <a:ln/>
        </p:spPr>
        <p:txBody>
          <a:bodyPr wrap="square" lIns="0" tIns="0" rIns="0" bIns="0" rtlCol="0" anchor="ctr"/>
          <a:lstStyle/>
          <a:p>
            <a:pPr marL="0" indent="0">
              <a:buNone/>
            </a:pPr>
            <a:r>
              <a:rPr lang="en-US" sz="1100" b="1" dirty="0">
                <a:solidFill>
                  <a:srgbClr val="E07A2F"/>
                </a:solidFill>
                <a:latin typeface="Calibri" pitchFamily="34" charset="0"/>
                <a:ea typeface="Calibri" pitchFamily="34" charset="-122"/>
                <a:cs typeface="Calibri" pitchFamily="34" charset="-120"/>
              </a:rPr>
              <a:t>Classes &amp; Objects</a:t>
            </a:r>
            <a:endParaRPr lang="en-US" sz="1100" dirty="0"/>
          </a:p>
        </p:txBody>
      </p:sp>
      <p:sp>
        <p:nvSpPr>
          <p:cNvPr id="8" name="Text 6"/>
          <p:cNvSpPr txBox="1"/>
          <p:nvPr/>
        </p:nvSpPr>
        <p:spPr>
          <a:xfrm>
            <a:off x="566928" y="1481328"/>
            <a:ext cx="1783080" cy="731520"/>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Product, Customer, Order model the domain; constructors guarantee valid state</a:t>
            </a:r>
            <a:endParaRPr lang="en-US" sz="950" dirty="0"/>
          </a:p>
        </p:txBody>
      </p:sp>
      <p:sp>
        <p:nvSpPr>
          <p:cNvPr id="9" name="Shape 7"/>
          <p:cNvSpPr/>
          <p:nvPr/>
        </p:nvSpPr>
        <p:spPr>
          <a:xfrm>
            <a:off x="2537460" y="1143000"/>
            <a:ext cx="1965960" cy="1097280"/>
          </a:xfrm>
          <a:prstGeom prst="roundRect">
            <a:avLst>
              <a:gd name="adj" fmla="val 6667"/>
            </a:avLst>
          </a:prstGeom>
          <a:solidFill>
            <a:srgbClr val="2B3A5C"/>
          </a:solidFill>
          <a:ln w="12700">
            <a:solidFill>
              <a:srgbClr val="2B3A5C"/>
            </a:solidFill>
            <a:prstDash val="solid"/>
          </a:ln>
        </p:spPr>
        <p:txBody>
          <a:bodyPr/>
          <a:lstStyle/>
          <a:p>
            <a:endParaRPr lang="tr-TR"/>
          </a:p>
        </p:txBody>
      </p:sp>
      <p:sp>
        <p:nvSpPr>
          <p:cNvPr id="10" name="Text 8"/>
          <p:cNvSpPr txBox="1"/>
          <p:nvPr/>
        </p:nvSpPr>
        <p:spPr>
          <a:xfrm>
            <a:off x="2647188" y="1207008"/>
            <a:ext cx="1783080" cy="274320"/>
          </a:xfrm>
          <a:prstGeom prst="rect">
            <a:avLst/>
          </a:prstGeom>
          <a:noFill/>
          <a:ln/>
        </p:spPr>
        <p:txBody>
          <a:bodyPr wrap="square" lIns="0" tIns="0" rIns="0" bIns="0" rtlCol="0" anchor="ctr"/>
          <a:lstStyle/>
          <a:p>
            <a:pPr marL="0" indent="0">
              <a:buNone/>
            </a:pPr>
            <a:r>
              <a:rPr lang="en-US" sz="1100" b="1" dirty="0">
                <a:solidFill>
                  <a:srgbClr val="E07A2F"/>
                </a:solidFill>
                <a:latin typeface="Calibri" pitchFamily="34" charset="0"/>
                <a:ea typeface="Calibri" pitchFamily="34" charset="-122"/>
                <a:cs typeface="Calibri" pitchFamily="34" charset="-120"/>
              </a:rPr>
              <a:t>Inheritance &amp; Polymorphism</a:t>
            </a:r>
            <a:endParaRPr lang="en-US" sz="1100" dirty="0"/>
          </a:p>
        </p:txBody>
      </p:sp>
      <p:sp>
        <p:nvSpPr>
          <p:cNvPr id="11" name="Text 9"/>
          <p:cNvSpPr txBox="1"/>
          <p:nvPr/>
        </p:nvSpPr>
        <p:spPr>
          <a:xfrm>
            <a:off x="2647188" y="1481328"/>
            <a:ext cx="1783080" cy="731520"/>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PremiumCustomer overrides calculate_discount(); Order dispatches without type checks</a:t>
            </a:r>
            <a:endParaRPr lang="en-US" sz="950" dirty="0"/>
          </a:p>
        </p:txBody>
      </p:sp>
      <p:sp>
        <p:nvSpPr>
          <p:cNvPr id="12" name="Shape 10"/>
          <p:cNvSpPr/>
          <p:nvPr/>
        </p:nvSpPr>
        <p:spPr>
          <a:xfrm>
            <a:off x="4617720" y="1143000"/>
            <a:ext cx="1965960" cy="1097280"/>
          </a:xfrm>
          <a:prstGeom prst="roundRect">
            <a:avLst>
              <a:gd name="adj" fmla="val 6667"/>
            </a:avLst>
          </a:prstGeom>
          <a:solidFill>
            <a:srgbClr val="2B3A5C"/>
          </a:solidFill>
          <a:ln w="12700">
            <a:solidFill>
              <a:srgbClr val="2B3A5C"/>
            </a:solidFill>
            <a:prstDash val="solid"/>
          </a:ln>
        </p:spPr>
        <p:txBody>
          <a:bodyPr/>
          <a:lstStyle/>
          <a:p>
            <a:endParaRPr lang="tr-TR"/>
          </a:p>
        </p:txBody>
      </p:sp>
      <p:sp>
        <p:nvSpPr>
          <p:cNvPr id="13" name="Text 11"/>
          <p:cNvSpPr txBox="1"/>
          <p:nvPr/>
        </p:nvSpPr>
        <p:spPr>
          <a:xfrm>
            <a:off x="4727448" y="1207008"/>
            <a:ext cx="1783080" cy="274320"/>
          </a:xfrm>
          <a:prstGeom prst="rect">
            <a:avLst/>
          </a:prstGeom>
          <a:noFill/>
          <a:ln/>
        </p:spPr>
        <p:txBody>
          <a:bodyPr wrap="square" lIns="0" tIns="0" rIns="0" bIns="0" rtlCol="0" anchor="ctr"/>
          <a:lstStyle/>
          <a:p>
            <a:pPr marL="0" indent="0">
              <a:buNone/>
            </a:pPr>
            <a:r>
              <a:rPr lang="en-US" sz="1100" b="1" dirty="0">
                <a:solidFill>
                  <a:srgbClr val="E07A2F"/>
                </a:solidFill>
                <a:latin typeface="Calibri" pitchFamily="34" charset="0"/>
                <a:ea typeface="Calibri" pitchFamily="34" charset="-122"/>
                <a:cs typeface="Calibri" pitchFamily="34" charset="-120"/>
              </a:rPr>
              <a:t>Encapsulation</a:t>
            </a:r>
            <a:endParaRPr lang="en-US" sz="1100" dirty="0"/>
          </a:p>
        </p:txBody>
      </p:sp>
      <p:sp>
        <p:nvSpPr>
          <p:cNvPr id="14" name="Text 12"/>
          <p:cNvSpPr txBox="1"/>
          <p:nvPr/>
        </p:nvSpPr>
        <p:spPr>
          <a:xfrm>
            <a:off x="4727448" y="1481328"/>
            <a:ext cx="1783080" cy="731520"/>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Validated properties and hidden representation (ShoppingCart) protect integrity</a:t>
            </a:r>
            <a:endParaRPr lang="en-US" sz="950" dirty="0"/>
          </a:p>
        </p:txBody>
      </p:sp>
      <p:sp>
        <p:nvSpPr>
          <p:cNvPr id="15" name="Shape 13"/>
          <p:cNvSpPr/>
          <p:nvPr/>
        </p:nvSpPr>
        <p:spPr>
          <a:xfrm>
            <a:off x="6697980" y="1143000"/>
            <a:ext cx="1965960" cy="1097280"/>
          </a:xfrm>
          <a:prstGeom prst="roundRect">
            <a:avLst>
              <a:gd name="adj" fmla="val 6667"/>
            </a:avLst>
          </a:prstGeom>
          <a:solidFill>
            <a:srgbClr val="2B3A5C"/>
          </a:solidFill>
          <a:ln w="12700">
            <a:solidFill>
              <a:srgbClr val="2B3A5C"/>
            </a:solidFill>
            <a:prstDash val="solid"/>
          </a:ln>
        </p:spPr>
        <p:txBody>
          <a:bodyPr/>
          <a:lstStyle/>
          <a:p>
            <a:endParaRPr lang="tr-TR"/>
          </a:p>
        </p:txBody>
      </p:sp>
      <p:sp>
        <p:nvSpPr>
          <p:cNvPr id="16" name="Text 14"/>
          <p:cNvSpPr txBox="1"/>
          <p:nvPr/>
        </p:nvSpPr>
        <p:spPr>
          <a:xfrm>
            <a:off x="6807708" y="1207008"/>
            <a:ext cx="1783080" cy="274320"/>
          </a:xfrm>
          <a:prstGeom prst="rect">
            <a:avLst/>
          </a:prstGeom>
          <a:noFill/>
          <a:ln/>
        </p:spPr>
        <p:txBody>
          <a:bodyPr wrap="square" lIns="0" tIns="0" rIns="0" bIns="0" rtlCol="0" anchor="ctr"/>
          <a:lstStyle/>
          <a:p>
            <a:pPr marL="0" indent="0">
              <a:buNone/>
            </a:pPr>
            <a:r>
              <a:rPr lang="en-US" sz="1100" b="1" dirty="0">
                <a:solidFill>
                  <a:srgbClr val="E07A2F"/>
                </a:solidFill>
                <a:latin typeface="Calibri" pitchFamily="34" charset="0"/>
                <a:ea typeface="Calibri" pitchFamily="34" charset="-122"/>
                <a:cs typeface="Calibri" pitchFamily="34" charset="-120"/>
              </a:rPr>
              <a:t>Abstraction</a:t>
            </a:r>
            <a:endParaRPr lang="en-US" sz="1100" dirty="0"/>
          </a:p>
        </p:txBody>
      </p:sp>
      <p:sp>
        <p:nvSpPr>
          <p:cNvPr id="17" name="Text 15"/>
          <p:cNvSpPr txBox="1"/>
          <p:nvPr/>
        </p:nvSpPr>
        <p:spPr>
          <a:xfrm>
            <a:off x="6807708" y="1481328"/>
            <a:ext cx="1783080" cy="731520"/>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Abstract User and the Orderable interface decouple ordering from concrete items</a:t>
            </a:r>
            <a:endParaRPr lang="en-US" sz="950" dirty="0"/>
          </a:p>
        </p:txBody>
      </p:sp>
      <p:sp>
        <p:nvSpPr>
          <p:cNvPr id="18" name="Shape 16"/>
          <p:cNvSpPr/>
          <p:nvPr/>
        </p:nvSpPr>
        <p:spPr>
          <a:xfrm>
            <a:off x="457200" y="2423160"/>
            <a:ext cx="2651760" cy="2103120"/>
          </a:xfrm>
          <a:prstGeom prst="roundRect">
            <a:avLst>
              <a:gd name="adj" fmla="val 3478"/>
            </a:avLst>
          </a:prstGeom>
          <a:solidFill>
            <a:srgbClr val="FFFFFF"/>
          </a:solidFill>
          <a:ln w="12700">
            <a:solidFill>
              <a:srgbClr val="FFFFFF"/>
            </a:solidFill>
            <a:prstDash val="solid"/>
          </a:ln>
        </p:spPr>
        <p:txBody>
          <a:bodyPr/>
          <a:lstStyle/>
          <a:p>
            <a:endParaRPr lang="tr-TR"/>
          </a:p>
        </p:txBody>
      </p:sp>
      <p:sp>
        <p:nvSpPr>
          <p:cNvPr id="19" name="Text 17"/>
          <p:cNvSpPr txBox="1"/>
          <p:nvPr/>
        </p:nvSpPr>
        <p:spPr>
          <a:xfrm>
            <a:off x="594360" y="2496312"/>
            <a:ext cx="2377440" cy="274320"/>
          </a:xfrm>
          <a:prstGeom prst="rect">
            <a:avLst/>
          </a:prstGeom>
          <a:noFill/>
          <a:ln/>
        </p:spPr>
        <p:txBody>
          <a:bodyPr wrap="square" lIns="0" tIns="0" rIns="0" bIns="0" rtlCol="0" anchor="ctr"/>
          <a:lstStyle/>
          <a:p>
            <a:pPr marL="0" indent="0">
              <a:buNone/>
            </a:pPr>
            <a:r>
              <a:rPr lang="en-US" sz="1200" b="1" dirty="0">
                <a:solidFill>
                  <a:srgbClr val="2A9D8F"/>
                </a:solidFill>
                <a:latin typeface="Calibri" pitchFamily="34" charset="0"/>
                <a:ea typeface="Calibri" pitchFamily="34" charset="-122"/>
                <a:cs typeface="Calibri" pitchFamily="34" charset="-120"/>
              </a:rPr>
              <a:t>Strengths</a:t>
            </a:r>
            <a:endParaRPr lang="en-US" sz="1200" dirty="0"/>
          </a:p>
        </p:txBody>
      </p:sp>
      <p:sp>
        <p:nvSpPr>
          <p:cNvPr id="20" name="Text 18"/>
          <p:cNvSpPr txBox="1"/>
          <p:nvPr/>
        </p:nvSpPr>
        <p:spPr>
          <a:xfrm>
            <a:off x="594360" y="2788920"/>
            <a:ext cx="2377440" cy="169164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1F2A44"/>
                </a:solidFill>
                <a:latin typeface="Calibri" pitchFamily="34" charset="0"/>
                <a:ea typeface="Calibri" pitchFamily="34" charset="-122"/>
                <a:cs typeface="Calibri" pitchFamily="34" charset="-120"/>
              </a:rPr>
              <a:t>Invalid state is impossible: every write is validated in one place</a:t>
            </a:r>
            <a:endParaRPr lang="en-US" sz="1050" dirty="0"/>
          </a:p>
          <a:p>
            <a:pPr marL="127000" indent="-127000">
              <a:spcAft>
                <a:spcPts val="500"/>
              </a:spcAft>
              <a:buSzPct val="100000"/>
              <a:buChar char="•"/>
            </a:pPr>
            <a:r>
              <a:rPr lang="en-US" sz="1050" dirty="0">
                <a:solidFill>
                  <a:srgbClr val="1F2A44"/>
                </a:solidFill>
                <a:latin typeface="Calibri" pitchFamily="34" charset="0"/>
                <a:ea typeface="Calibri" pitchFamily="34" charset="-122"/>
                <a:cs typeface="Calibri" pitchFamily="34" charset="-120"/>
              </a:rPr>
              <a:t>New tiers or item types need no edits to Order (open/closed)</a:t>
            </a:r>
            <a:endParaRPr lang="en-US" sz="1050" dirty="0"/>
          </a:p>
          <a:p>
            <a:pPr marL="127000" indent="-127000">
              <a:spcAft>
                <a:spcPts val="500"/>
              </a:spcAft>
              <a:buSzPct val="100000"/>
              <a:buChar char="•"/>
            </a:pPr>
            <a:r>
              <a:rPr lang="en-US" sz="1050" dirty="0">
                <a:solidFill>
                  <a:srgbClr val="1F2A44"/>
                </a:solidFill>
                <a:latin typeface="Calibri" pitchFamily="34" charset="0"/>
                <a:ea typeface="Calibri" pitchFamily="34" charset="-122"/>
                <a:cs typeface="Calibri" pitchFamily="34" charset="-120"/>
              </a:rPr>
              <a:t>Standard library only; every concept maps to a named construct</a:t>
            </a:r>
            <a:endParaRPr lang="en-US" sz="1050" dirty="0"/>
          </a:p>
        </p:txBody>
      </p:sp>
      <p:sp>
        <p:nvSpPr>
          <p:cNvPr id="21" name="Shape 19"/>
          <p:cNvSpPr/>
          <p:nvPr/>
        </p:nvSpPr>
        <p:spPr>
          <a:xfrm>
            <a:off x="3246120" y="2423160"/>
            <a:ext cx="2651760" cy="2103120"/>
          </a:xfrm>
          <a:prstGeom prst="roundRect">
            <a:avLst>
              <a:gd name="adj" fmla="val 3478"/>
            </a:avLst>
          </a:prstGeom>
          <a:solidFill>
            <a:srgbClr val="FFFFFF"/>
          </a:solidFill>
          <a:ln w="12700">
            <a:solidFill>
              <a:srgbClr val="FFFFFF"/>
            </a:solidFill>
            <a:prstDash val="solid"/>
          </a:ln>
        </p:spPr>
        <p:txBody>
          <a:bodyPr/>
          <a:lstStyle/>
          <a:p>
            <a:endParaRPr lang="tr-TR"/>
          </a:p>
        </p:txBody>
      </p:sp>
      <p:sp>
        <p:nvSpPr>
          <p:cNvPr id="22" name="Text 20"/>
          <p:cNvSpPr txBox="1"/>
          <p:nvPr/>
        </p:nvSpPr>
        <p:spPr>
          <a:xfrm>
            <a:off x="3383280" y="2496312"/>
            <a:ext cx="2377440" cy="274320"/>
          </a:xfrm>
          <a:prstGeom prst="rect">
            <a:avLst/>
          </a:prstGeom>
          <a:noFill/>
          <a:ln/>
        </p:spPr>
        <p:txBody>
          <a:bodyPr wrap="square" lIns="0" tIns="0" rIns="0" bIns="0" rtlCol="0" anchor="ctr"/>
          <a:lstStyle/>
          <a:p>
            <a:pPr marL="0" indent="0">
              <a:buNone/>
            </a:pPr>
            <a:r>
              <a:rPr lang="en-US" sz="1200" b="1" dirty="0">
                <a:solidFill>
                  <a:srgbClr val="E07A2F"/>
                </a:solidFill>
                <a:latin typeface="Calibri" pitchFamily="34" charset="0"/>
                <a:ea typeface="Calibri" pitchFamily="34" charset="-122"/>
                <a:cs typeface="Calibri" pitchFamily="34" charset="-120"/>
              </a:rPr>
              <a:t>Limitations</a:t>
            </a:r>
            <a:endParaRPr lang="en-US" sz="1200" dirty="0"/>
          </a:p>
        </p:txBody>
      </p:sp>
      <p:sp>
        <p:nvSpPr>
          <p:cNvPr id="23" name="Text 21"/>
          <p:cNvSpPr txBox="1"/>
          <p:nvPr/>
        </p:nvSpPr>
        <p:spPr>
          <a:xfrm>
            <a:off x="3383280" y="2788920"/>
            <a:ext cx="2377440" cy="169164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1F2A44"/>
                </a:solidFill>
                <a:latin typeface="Calibri" pitchFamily="34" charset="0"/>
                <a:ea typeface="Calibri" pitchFamily="34" charset="-122"/>
                <a:cs typeface="Calibri" pitchFamily="34" charset="-120"/>
              </a:rPr>
              <a:t>float for money - rounding drift; decimal.Decimal is the correct type</a:t>
            </a:r>
            <a:endParaRPr lang="en-US" sz="1050" dirty="0"/>
          </a:p>
          <a:p>
            <a:pPr marL="127000" indent="-127000">
              <a:spcAft>
                <a:spcPts val="500"/>
              </a:spcAft>
              <a:buSzPct val="100000"/>
              <a:buChar char="•"/>
            </a:pPr>
            <a:r>
              <a:rPr lang="en-US" sz="1050" dirty="0">
                <a:solidFill>
                  <a:srgbClr val="1F2A44"/>
                </a:solidFill>
                <a:latin typeface="Calibri" pitchFamily="34" charset="0"/>
                <a:ea typeface="Calibri" pitchFamily="34" charset="-122"/>
                <a:cs typeface="Calibri" pitchFamily="34" charset="-120"/>
              </a:rPr>
              <a:t>Stock reserved at add-time and released by cancel()/GC - not deterministic</a:t>
            </a:r>
            <a:endParaRPr lang="en-US" sz="1050" dirty="0"/>
          </a:p>
          <a:p>
            <a:pPr marL="127000" indent="-127000">
              <a:spcAft>
                <a:spcPts val="500"/>
              </a:spcAft>
              <a:buSzPct val="100000"/>
              <a:buChar char="•"/>
            </a:pPr>
            <a:r>
              <a:rPr lang="en-US" sz="1050" dirty="0">
                <a:solidFill>
                  <a:srgbClr val="1F2A44"/>
                </a:solidFill>
                <a:latin typeface="Calibri" pitchFamily="34" charset="0"/>
                <a:ea typeface="Calibri" pitchFamily="34" charset="-122"/>
                <a:cs typeface="Calibri" pitchFamily="34" charset="-120"/>
              </a:rPr>
              <a:t>In-memory only: no persistence, concurrency control or IDs across runs</a:t>
            </a:r>
            <a:endParaRPr lang="en-US" sz="1050" dirty="0"/>
          </a:p>
        </p:txBody>
      </p:sp>
      <p:sp>
        <p:nvSpPr>
          <p:cNvPr id="24" name="Shape 22"/>
          <p:cNvSpPr/>
          <p:nvPr/>
        </p:nvSpPr>
        <p:spPr>
          <a:xfrm>
            <a:off x="6035040" y="2423160"/>
            <a:ext cx="2651760" cy="2103120"/>
          </a:xfrm>
          <a:prstGeom prst="roundRect">
            <a:avLst>
              <a:gd name="adj" fmla="val 3478"/>
            </a:avLst>
          </a:prstGeom>
          <a:solidFill>
            <a:srgbClr val="FFFFFF"/>
          </a:solidFill>
          <a:ln w="12700">
            <a:solidFill>
              <a:srgbClr val="FFFFFF"/>
            </a:solidFill>
            <a:prstDash val="solid"/>
          </a:ln>
        </p:spPr>
        <p:txBody>
          <a:bodyPr/>
          <a:lstStyle/>
          <a:p>
            <a:endParaRPr lang="tr-TR"/>
          </a:p>
        </p:txBody>
      </p:sp>
      <p:sp>
        <p:nvSpPr>
          <p:cNvPr id="25" name="Text 23"/>
          <p:cNvSpPr txBox="1"/>
          <p:nvPr/>
        </p:nvSpPr>
        <p:spPr>
          <a:xfrm>
            <a:off x="6172200" y="2496312"/>
            <a:ext cx="237744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Improvements &amp; scalability</a:t>
            </a:r>
            <a:endParaRPr lang="en-US" sz="1200" dirty="0"/>
          </a:p>
        </p:txBody>
      </p:sp>
      <p:sp>
        <p:nvSpPr>
          <p:cNvPr id="26" name="Text 24"/>
          <p:cNvSpPr txBox="1"/>
          <p:nvPr/>
        </p:nvSpPr>
        <p:spPr>
          <a:xfrm>
            <a:off x="6172200" y="2788920"/>
            <a:ext cx="2377440" cy="169164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1F2A44"/>
                </a:solidFill>
                <a:latin typeface="Calibri" pitchFamily="34" charset="0"/>
                <a:ea typeface="Calibri" pitchFamily="34" charset="-122"/>
                <a:cs typeface="Calibri" pitchFamily="34" charset="-120"/>
              </a:rPr>
              <a:t>Strategy pattern for discounts instead of a subclass per tier</a:t>
            </a:r>
            <a:endParaRPr lang="en-US" sz="1050" dirty="0"/>
          </a:p>
          <a:p>
            <a:pPr marL="127000" indent="-127000">
              <a:spcAft>
                <a:spcPts val="500"/>
              </a:spcAft>
              <a:buSzPct val="100000"/>
              <a:buChar char="•"/>
            </a:pPr>
            <a:r>
              <a:rPr lang="en-US" sz="1050" dirty="0">
                <a:solidFill>
                  <a:srgbClr val="1F2A44"/>
                </a:solidFill>
                <a:latin typeface="Calibri" pitchFamily="34" charset="0"/>
                <a:ea typeface="Calibri" pitchFamily="34" charset="-122"/>
                <a:cs typeface="Calibri" pitchFamily="34" charset="-120"/>
              </a:rPr>
              <a:t>@dataclass for Product/GiftCard; typing.Protocol for interfaces</a:t>
            </a:r>
            <a:endParaRPr lang="en-US" sz="1050" dirty="0"/>
          </a:p>
          <a:p>
            <a:pPr marL="127000" indent="-127000">
              <a:spcAft>
                <a:spcPts val="500"/>
              </a:spcAft>
              <a:buSzPct val="100000"/>
              <a:buChar char="•"/>
            </a:pPr>
            <a:r>
              <a:rPr lang="en-US" sz="1050" dirty="0">
                <a:solidFill>
                  <a:srgbClr val="1F2A44"/>
                </a:solidFill>
                <a:latin typeface="Calibri" pitchFamily="34" charset="0"/>
                <a:ea typeface="Calibri" pitchFamily="34" charset="-122"/>
                <a:cs typeface="Calibri" pitchFamily="34" charset="-120"/>
              </a:rPr>
              <a:t>Repository layer over a database; reservation timeouts for stock</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A44"/>
        </a:solidFill>
        <a:effectLst/>
      </p:bgPr>
    </p:bg>
    <p:spTree>
      <p:nvGrpSpPr>
        <p:cNvPr id="1" name=""/>
        <p:cNvGrpSpPr/>
        <p:nvPr/>
      </p:nvGrpSpPr>
      <p:grpSpPr>
        <a:xfrm>
          <a:off x="0" y="0"/>
          <a:ext cx="0" cy="0"/>
          <a:chOff x="0" y="0"/>
          <a:chExt cx="0" cy="0"/>
        </a:xfrm>
      </p:grpSpPr>
      <p:sp>
        <p:nvSpPr>
          <p:cNvPr id="2" name="Text 0"/>
          <p:cNvSpPr txBox="1"/>
          <p:nvPr/>
        </p:nvSpPr>
        <p:spPr>
          <a:xfrm>
            <a:off x="8138160" y="4773168"/>
            <a:ext cx="640080" cy="256032"/>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12 / 13</a:t>
            </a:r>
            <a:endParaRPr lang="en-US" sz="900" dirty="0"/>
          </a:p>
        </p:txBody>
      </p:sp>
      <p:sp>
        <p:nvSpPr>
          <p:cNvPr id="3" name="Text 1"/>
          <p:cNvSpPr txBox="1"/>
          <p:nvPr/>
        </p:nvSpPr>
        <p:spPr>
          <a:xfrm>
            <a:off x="548640" y="1371600"/>
            <a:ext cx="8046720" cy="1097280"/>
          </a:xfrm>
          <a:prstGeom prst="rect">
            <a:avLst/>
          </a:prstGeom>
          <a:noFill/>
          <a:ln/>
        </p:spPr>
        <p:txBody>
          <a:bodyPr wrap="square" lIns="0" tIns="0" rIns="0" bIns="0"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Q&amp;A</a:t>
            </a:r>
            <a:endParaRPr lang="en-US" sz="6000" dirty="0"/>
          </a:p>
        </p:txBody>
      </p:sp>
      <p:sp>
        <p:nvSpPr>
          <p:cNvPr id="4" name="Text 2"/>
          <p:cNvSpPr txBox="1"/>
          <p:nvPr/>
        </p:nvSpPr>
        <p:spPr>
          <a:xfrm>
            <a:off x="548640" y="2514600"/>
            <a:ext cx="8046720" cy="411480"/>
          </a:xfrm>
          <a:prstGeom prst="rect">
            <a:avLst/>
          </a:prstGeom>
          <a:noFill/>
          <a:ln/>
        </p:spPr>
        <p:txBody>
          <a:bodyPr wrap="square" lIns="0" tIns="0" rIns="0" bIns="0" rtlCol="0" anchor="ctr"/>
          <a:lstStyle/>
          <a:p>
            <a:pPr marL="0" indent="0" algn="ctr">
              <a:buNone/>
            </a:pPr>
            <a:r>
              <a:rPr lang="en-US" sz="1800" dirty="0">
                <a:solidFill>
                  <a:srgbClr val="E07A2F"/>
                </a:solidFill>
                <a:latin typeface="Calibri" pitchFamily="34" charset="0"/>
                <a:ea typeface="Calibri" pitchFamily="34" charset="-122"/>
                <a:cs typeface="Calibri" pitchFamily="34" charset="-120"/>
              </a:rPr>
              <a:t>Thank you - questions are welcome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138160" y="4773168"/>
            <a:ext cx="640080" cy="256032"/>
          </a:xfrm>
          <a:prstGeom prst="rect">
            <a:avLst/>
          </a:prstGeom>
          <a:noFill/>
          <a:ln/>
        </p:spPr>
        <p:txBody>
          <a:bodyPr wrap="square" lIns="0" tIns="0" rIns="0" bIns="0"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13 / 13</a:t>
            </a:r>
            <a:endParaRPr lang="en-US" sz="900" dirty="0"/>
          </a:p>
        </p:txBody>
      </p:sp>
      <p:sp>
        <p:nvSpPr>
          <p:cNvPr id="3" name="Shape 1"/>
          <p:cNvSpPr/>
          <p:nvPr/>
        </p:nvSpPr>
        <p:spPr>
          <a:xfrm>
            <a:off x="457200" y="292608"/>
            <a:ext cx="1280160" cy="237744"/>
          </a:xfrm>
          <a:prstGeom prst="roundRect">
            <a:avLst>
              <a:gd name="adj" fmla="val 50000"/>
            </a:avLst>
          </a:prstGeom>
          <a:solidFill>
            <a:srgbClr val="E07A2F"/>
          </a:solidFill>
          <a:ln w="12700">
            <a:solidFill>
              <a:srgbClr val="E07A2F"/>
            </a:solidFill>
            <a:prstDash val="solid"/>
          </a:ln>
        </p:spPr>
        <p:txBody>
          <a:bodyPr/>
          <a:lstStyle/>
          <a:p>
            <a:endParaRPr lang="tr-TR"/>
          </a:p>
        </p:txBody>
      </p:sp>
      <p:sp>
        <p:nvSpPr>
          <p:cNvPr id="4" name="Text 2"/>
          <p:cNvSpPr txBox="1"/>
          <p:nvPr/>
        </p:nvSpPr>
        <p:spPr>
          <a:xfrm>
            <a:off x="457200" y="292608"/>
            <a:ext cx="1280160" cy="237744"/>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REFERENCES</a:t>
            </a:r>
            <a:endParaRPr lang="en-US" sz="900" dirty="0"/>
          </a:p>
        </p:txBody>
      </p:sp>
      <p:sp>
        <p:nvSpPr>
          <p:cNvPr id="5" name="Text 3"/>
          <p:cNvSpPr txBox="1"/>
          <p:nvPr/>
        </p:nvSpPr>
        <p:spPr>
          <a:xfrm>
            <a:off x="457200" y="566928"/>
            <a:ext cx="8229600" cy="457200"/>
          </a:xfrm>
          <a:prstGeom prst="rect">
            <a:avLst/>
          </a:prstGeom>
          <a:noFill/>
          <a:ln/>
        </p:spPr>
        <p:txBody>
          <a:bodyPr wrap="square" lIns="0" tIns="0" rIns="0" bIns="0" rtlCol="0" anchor="ctr"/>
          <a:lstStyle/>
          <a:p>
            <a:pPr marL="0" indent="0">
              <a:buNone/>
            </a:pPr>
            <a:r>
              <a:rPr lang="en-US" sz="2600" b="1" dirty="0">
                <a:solidFill>
                  <a:srgbClr val="1F2A44"/>
                </a:solidFill>
                <a:latin typeface="Cambria" pitchFamily="34" charset="0"/>
                <a:ea typeface="Cambria" pitchFamily="34" charset="-122"/>
                <a:cs typeface="Cambria" pitchFamily="34" charset="-120"/>
              </a:rPr>
              <a:t>References (Harvard)</a:t>
            </a:r>
            <a:endParaRPr lang="en-US" sz="2600" dirty="0"/>
          </a:p>
        </p:txBody>
      </p:sp>
      <p:sp>
        <p:nvSpPr>
          <p:cNvPr id="6" name="Text 4"/>
          <p:cNvSpPr txBox="1"/>
          <p:nvPr/>
        </p:nvSpPr>
        <p:spPr>
          <a:xfrm>
            <a:off x="457200" y="1143000"/>
            <a:ext cx="8229600" cy="3063240"/>
          </a:xfrm>
          <a:prstGeom prst="rect">
            <a:avLst/>
          </a:prstGeom>
          <a:noFill/>
          <a:ln/>
        </p:spPr>
        <p:txBody>
          <a:bodyPr wrap="square" lIns="0" tIns="0" rIns="0" bIns="0" rtlCol="0" anchor="t"/>
          <a:lstStyle/>
          <a:p>
            <a:pPr marL="0" indent="0">
              <a:buNone/>
            </a:pPr>
            <a:r>
              <a:rPr lang="en-US" sz="1050" dirty="0">
                <a:solidFill>
                  <a:srgbClr val="1F2A44"/>
                </a:solidFill>
                <a:latin typeface="Calibri" pitchFamily="34" charset="0"/>
                <a:ea typeface="Calibri" pitchFamily="34" charset="-122"/>
                <a:cs typeface="Calibri" pitchFamily="34" charset="-120"/>
              </a:rPr>
              <a:t>Gamma, E., Helm, R., Johnson, R. and Vlissides, J. (1994) </a:t>
            </a:r>
            <a:r>
              <a:rPr lang="en-US" sz="1050" i="1" dirty="0">
                <a:solidFill>
                  <a:srgbClr val="1F2A44"/>
                </a:solidFill>
                <a:latin typeface="Calibri" pitchFamily="34" charset="0"/>
                <a:ea typeface="Calibri" pitchFamily="34" charset="-122"/>
                <a:cs typeface="Calibri" pitchFamily="34" charset="-120"/>
              </a:rPr>
              <a:t>Design Patterns: Elements of Reusable Object-Oriented Software</a:t>
            </a:r>
            <a:r>
              <a:rPr lang="en-US" sz="1050" dirty="0">
                <a:solidFill>
                  <a:srgbClr val="1F2A44"/>
                </a:solidFill>
                <a:latin typeface="Calibri" pitchFamily="34" charset="0"/>
                <a:ea typeface="Calibri" pitchFamily="34" charset="-122"/>
                <a:cs typeface="Calibri" pitchFamily="34" charset="-120"/>
              </a:rPr>
              <a:t>. Reading, MA: Addison-Wesley.</a:t>
            </a:r>
            <a:endParaRPr lang="en-US" sz="1050" dirty="0"/>
          </a:p>
          <a:p>
            <a:pPr marL="0" indent="0">
              <a:buNone/>
            </a:pPr>
            <a:r>
              <a:rPr lang="en-US" sz="1050" dirty="0">
                <a:solidFill>
                  <a:srgbClr val="1F2A44"/>
                </a:solidFill>
                <a:latin typeface="Calibri" pitchFamily="34" charset="0"/>
                <a:ea typeface="Calibri" pitchFamily="34" charset="-122"/>
                <a:cs typeface="Calibri" pitchFamily="34" charset="-120"/>
              </a:rPr>
              <a:t>Levkivskyi, I., Lehtosalo, J. and Langa, Ł. (2017) </a:t>
            </a:r>
            <a:r>
              <a:rPr lang="en-US" sz="1050" i="1" dirty="0">
                <a:solidFill>
                  <a:srgbClr val="1F2A44"/>
                </a:solidFill>
                <a:latin typeface="Calibri" pitchFamily="34" charset="0"/>
                <a:ea typeface="Calibri" pitchFamily="34" charset="-122"/>
                <a:cs typeface="Calibri" pitchFamily="34" charset="-120"/>
              </a:rPr>
              <a:t>PEP 544 – Protocols: Structural subtyping (static duck typing)</a:t>
            </a:r>
            <a:r>
              <a:rPr lang="en-US" sz="1050" dirty="0">
                <a:solidFill>
                  <a:srgbClr val="1F2A44"/>
                </a:solidFill>
                <a:latin typeface="Calibri" pitchFamily="34" charset="0"/>
                <a:ea typeface="Calibri" pitchFamily="34" charset="-122"/>
                <a:cs typeface="Calibri" pitchFamily="34" charset="-120"/>
              </a:rPr>
              <a:t>. Available at: https://peps.python.org/pep-0544/ (Accessed: 31 August 2026).</a:t>
            </a:r>
            <a:endParaRPr lang="en-US" sz="1050" dirty="0"/>
          </a:p>
          <a:p>
            <a:pPr marL="0" indent="0">
              <a:buNone/>
            </a:pPr>
            <a:r>
              <a:rPr lang="en-US" sz="1050" dirty="0">
                <a:solidFill>
                  <a:srgbClr val="1F2A44"/>
                </a:solidFill>
                <a:latin typeface="Calibri" pitchFamily="34" charset="0"/>
                <a:ea typeface="Calibri" pitchFamily="34" charset="-122"/>
                <a:cs typeface="Calibri" pitchFamily="34" charset="-120"/>
              </a:rPr>
              <a:t>Lutz, M. (2013) </a:t>
            </a:r>
            <a:r>
              <a:rPr lang="en-US" sz="1050" i="1" dirty="0">
                <a:solidFill>
                  <a:srgbClr val="1F2A44"/>
                </a:solidFill>
                <a:latin typeface="Calibri" pitchFamily="34" charset="0"/>
                <a:ea typeface="Calibri" pitchFamily="34" charset="-122"/>
                <a:cs typeface="Calibri" pitchFamily="34" charset="-120"/>
              </a:rPr>
              <a:t>Learning Python</a:t>
            </a:r>
            <a:r>
              <a:rPr lang="en-US" sz="1050" dirty="0">
                <a:solidFill>
                  <a:srgbClr val="1F2A44"/>
                </a:solidFill>
                <a:latin typeface="Calibri" pitchFamily="34" charset="0"/>
                <a:ea typeface="Calibri" pitchFamily="34" charset="-122"/>
                <a:cs typeface="Calibri" pitchFamily="34" charset="-120"/>
              </a:rPr>
              <a:t>. 5th edn. Sebastopol, CA: O'Reilly Media.</a:t>
            </a:r>
            <a:endParaRPr lang="en-US" sz="1050" dirty="0"/>
          </a:p>
          <a:p>
            <a:pPr marL="0" indent="0">
              <a:buNone/>
            </a:pPr>
            <a:r>
              <a:rPr lang="en-US" sz="1050" dirty="0">
                <a:solidFill>
                  <a:srgbClr val="1F2A44"/>
                </a:solidFill>
                <a:latin typeface="Calibri" pitchFamily="34" charset="0"/>
                <a:ea typeface="Calibri" pitchFamily="34" charset="-122"/>
                <a:cs typeface="Calibri" pitchFamily="34" charset="-120"/>
              </a:rPr>
              <a:t>Martin, R.C. (2009) </a:t>
            </a:r>
            <a:r>
              <a:rPr lang="en-US" sz="1050" i="1" dirty="0">
                <a:solidFill>
                  <a:srgbClr val="1F2A44"/>
                </a:solidFill>
                <a:latin typeface="Calibri" pitchFamily="34" charset="0"/>
                <a:ea typeface="Calibri" pitchFamily="34" charset="-122"/>
                <a:cs typeface="Calibri" pitchFamily="34" charset="-120"/>
              </a:rPr>
              <a:t>Clean Code: A Handbook of Agile Software Craftsmanship</a:t>
            </a:r>
            <a:r>
              <a:rPr lang="en-US" sz="1050" dirty="0">
                <a:solidFill>
                  <a:srgbClr val="1F2A44"/>
                </a:solidFill>
                <a:latin typeface="Calibri" pitchFamily="34" charset="0"/>
                <a:ea typeface="Calibri" pitchFamily="34" charset="-122"/>
                <a:cs typeface="Calibri" pitchFamily="34" charset="-120"/>
              </a:rPr>
              <a:t>. Upper Saddle River, NJ: Prentice Hall.</a:t>
            </a:r>
            <a:endParaRPr lang="en-US" sz="1050" dirty="0"/>
          </a:p>
          <a:p>
            <a:pPr marL="0" indent="0">
              <a:buNone/>
            </a:pPr>
            <a:r>
              <a:rPr lang="en-US" sz="1050" dirty="0">
                <a:solidFill>
                  <a:srgbClr val="1F2A44"/>
                </a:solidFill>
                <a:latin typeface="Calibri" pitchFamily="34" charset="0"/>
                <a:ea typeface="Calibri" pitchFamily="34" charset="-122"/>
                <a:cs typeface="Calibri" pitchFamily="34" charset="-120"/>
              </a:rPr>
              <a:t>Python Software Foundation (no date a) </a:t>
            </a:r>
            <a:r>
              <a:rPr lang="en-US" sz="1050" i="1" dirty="0">
                <a:solidFill>
                  <a:srgbClr val="1F2A44"/>
                </a:solidFill>
                <a:latin typeface="Calibri" pitchFamily="34" charset="0"/>
                <a:ea typeface="Calibri" pitchFamily="34" charset="-122"/>
                <a:cs typeface="Calibri" pitchFamily="34" charset="-120"/>
              </a:rPr>
              <a:t>abc – Abstract Base Classes</a:t>
            </a:r>
            <a:r>
              <a:rPr lang="en-US" sz="1050" dirty="0">
                <a:solidFill>
                  <a:srgbClr val="1F2A44"/>
                </a:solidFill>
                <a:latin typeface="Calibri" pitchFamily="34" charset="0"/>
                <a:ea typeface="Calibri" pitchFamily="34" charset="-122"/>
                <a:cs typeface="Calibri" pitchFamily="34" charset="-120"/>
              </a:rPr>
              <a:t>. Available at: https://docs.python.org/3/library/abc.html (Accessed: 31 August 2026).</a:t>
            </a:r>
            <a:endParaRPr lang="en-US" sz="1050" dirty="0"/>
          </a:p>
          <a:p>
            <a:pPr marL="0" indent="0">
              <a:buNone/>
            </a:pPr>
            <a:r>
              <a:rPr lang="en-US" sz="1050" dirty="0">
                <a:solidFill>
                  <a:srgbClr val="1F2A44"/>
                </a:solidFill>
                <a:latin typeface="Calibri" pitchFamily="34" charset="0"/>
                <a:ea typeface="Calibri" pitchFamily="34" charset="-122"/>
                <a:cs typeface="Calibri" pitchFamily="34" charset="-120"/>
              </a:rPr>
              <a:t>Python Software Foundation (no date b) </a:t>
            </a:r>
            <a:r>
              <a:rPr lang="en-US" sz="1050" i="1" dirty="0">
                <a:solidFill>
                  <a:srgbClr val="1F2A44"/>
                </a:solidFill>
                <a:latin typeface="Calibri" pitchFamily="34" charset="0"/>
                <a:ea typeface="Calibri" pitchFamily="34" charset="-122"/>
                <a:cs typeface="Calibri" pitchFamily="34" charset="-120"/>
              </a:rPr>
              <a:t>Data model – The Python Language Reference</a:t>
            </a:r>
            <a:r>
              <a:rPr lang="en-US" sz="1050" dirty="0">
                <a:solidFill>
                  <a:srgbClr val="1F2A44"/>
                </a:solidFill>
                <a:latin typeface="Calibri" pitchFamily="34" charset="0"/>
                <a:ea typeface="Calibri" pitchFamily="34" charset="-122"/>
                <a:cs typeface="Calibri" pitchFamily="34" charset="-120"/>
              </a:rPr>
              <a:t>. Available at: https://docs.python.org/3/reference/datamodel.html (Accessed: 31 August 2026).</a:t>
            </a:r>
            <a:endParaRPr lang="en-US" sz="1050" dirty="0"/>
          </a:p>
          <a:p>
            <a:pPr marL="0" indent="0">
              <a:buNone/>
            </a:pPr>
            <a:r>
              <a:rPr lang="en-US" sz="1050" dirty="0">
                <a:solidFill>
                  <a:srgbClr val="1F2A44"/>
                </a:solidFill>
                <a:latin typeface="Calibri" pitchFamily="34" charset="0"/>
                <a:ea typeface="Calibri" pitchFamily="34" charset="-122"/>
                <a:cs typeface="Calibri" pitchFamily="34" charset="-120"/>
              </a:rPr>
              <a:t>Python Software Foundation (no date c) </a:t>
            </a:r>
            <a:r>
              <a:rPr lang="en-US" sz="1050" i="1" dirty="0">
                <a:solidFill>
                  <a:srgbClr val="1F2A44"/>
                </a:solidFill>
                <a:latin typeface="Calibri" pitchFamily="34" charset="0"/>
                <a:ea typeface="Calibri" pitchFamily="34" charset="-122"/>
                <a:cs typeface="Calibri" pitchFamily="34" charset="-120"/>
              </a:rPr>
              <a:t>decimal – Decimal fixed point and floating point arithmetic</a:t>
            </a:r>
            <a:r>
              <a:rPr lang="en-US" sz="1050" dirty="0">
                <a:solidFill>
                  <a:srgbClr val="1F2A44"/>
                </a:solidFill>
                <a:latin typeface="Calibri" pitchFamily="34" charset="0"/>
                <a:ea typeface="Calibri" pitchFamily="34" charset="-122"/>
                <a:cs typeface="Calibri" pitchFamily="34" charset="-120"/>
              </a:rPr>
              <a:t>. Available at: https://docs.python.org/3/library/decimal.html (Accessed: 31 August 2026).</a:t>
            </a:r>
            <a:endParaRPr lang="en-US" sz="1050" dirty="0"/>
          </a:p>
          <a:p>
            <a:pPr marL="0" indent="0">
              <a:buNone/>
            </a:pPr>
            <a:r>
              <a:rPr lang="en-US" sz="1050" dirty="0">
                <a:solidFill>
                  <a:srgbClr val="1F2A44"/>
                </a:solidFill>
                <a:latin typeface="Calibri" pitchFamily="34" charset="0"/>
                <a:ea typeface="Calibri" pitchFamily="34" charset="-122"/>
                <a:cs typeface="Calibri" pitchFamily="34" charset="-120"/>
              </a:rPr>
              <a:t>Ramalho, L. (2022) </a:t>
            </a:r>
            <a:r>
              <a:rPr lang="en-US" sz="1050" i="1" dirty="0">
                <a:solidFill>
                  <a:srgbClr val="1F2A44"/>
                </a:solidFill>
                <a:latin typeface="Calibri" pitchFamily="34" charset="0"/>
                <a:ea typeface="Calibri" pitchFamily="34" charset="-122"/>
                <a:cs typeface="Calibri" pitchFamily="34" charset="-120"/>
              </a:rPr>
              <a:t>Fluent Python</a:t>
            </a:r>
            <a:r>
              <a:rPr lang="en-US" sz="1050" dirty="0">
                <a:solidFill>
                  <a:srgbClr val="1F2A44"/>
                </a:solidFill>
                <a:latin typeface="Calibri" pitchFamily="34" charset="0"/>
                <a:ea typeface="Calibri" pitchFamily="34" charset="-122"/>
                <a:cs typeface="Calibri" pitchFamily="34" charset="-120"/>
              </a:rPr>
              <a:t>. 2nd edn. Sebastopol, CA: O'Reilly Media.</a:t>
            </a:r>
            <a:endParaRPr lang="en-US" sz="1050" dirty="0"/>
          </a:p>
          <a:p>
            <a:pPr marL="0" indent="0">
              <a:buNone/>
            </a:pPr>
            <a:r>
              <a:rPr lang="en-US" sz="1050" dirty="0">
                <a:solidFill>
                  <a:srgbClr val="1F2A44"/>
                </a:solidFill>
                <a:latin typeface="Calibri" pitchFamily="34" charset="0"/>
                <a:ea typeface="Calibri" pitchFamily="34" charset="-122"/>
                <a:cs typeface="Calibri" pitchFamily="34" charset="-120"/>
              </a:rPr>
              <a:t>van Rossum, G., Warsaw, B. and Coghlan, A. (2001) </a:t>
            </a:r>
            <a:r>
              <a:rPr lang="en-US" sz="1050" i="1" dirty="0">
                <a:solidFill>
                  <a:srgbClr val="1F2A44"/>
                </a:solidFill>
                <a:latin typeface="Calibri" pitchFamily="34" charset="0"/>
                <a:ea typeface="Calibri" pitchFamily="34" charset="-122"/>
                <a:cs typeface="Calibri" pitchFamily="34" charset="-120"/>
              </a:rPr>
              <a:t>PEP 8 – Style Guide for Python Code</a:t>
            </a:r>
            <a:r>
              <a:rPr lang="en-US" sz="1050" dirty="0">
                <a:solidFill>
                  <a:srgbClr val="1F2A44"/>
                </a:solidFill>
                <a:latin typeface="Calibri" pitchFamily="34" charset="0"/>
                <a:ea typeface="Calibri" pitchFamily="34" charset="-122"/>
                <a:cs typeface="Calibri" pitchFamily="34" charset="-120"/>
              </a:rPr>
              <a:t>. Available at: https://peps.python.org/pep-0008/ (Accessed: 31 August 2026).</a:t>
            </a:r>
            <a:endParaRPr lang="en-US" sz="1050" dirty="0"/>
          </a:p>
        </p:txBody>
      </p:sp>
      <p:sp>
        <p:nvSpPr>
          <p:cNvPr id="7" name="Shape 5"/>
          <p:cNvSpPr/>
          <p:nvPr/>
        </p:nvSpPr>
        <p:spPr>
          <a:xfrm>
            <a:off x="457200" y="4224528"/>
            <a:ext cx="8229600" cy="475488"/>
          </a:xfrm>
          <a:prstGeom prst="roundRect">
            <a:avLst>
              <a:gd name="adj" fmla="val 15385"/>
            </a:avLst>
          </a:prstGeom>
          <a:solidFill>
            <a:srgbClr val="FDF1E7"/>
          </a:solidFill>
          <a:ln w="12700">
            <a:solidFill>
              <a:srgbClr val="FDF1E7"/>
            </a:solidFill>
            <a:prstDash val="solid"/>
          </a:ln>
        </p:spPr>
        <p:txBody>
          <a:bodyPr/>
          <a:lstStyle/>
          <a:p>
            <a:endParaRPr lang="tr-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4622</Words>
  <Application>Microsoft Office PowerPoint</Application>
  <PresentationFormat>Ekran Gösterisi (16:9)</PresentationFormat>
  <Paragraphs>337</Paragraphs>
  <Slides>13</Slides>
  <Notes>13</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13</vt:i4>
      </vt:variant>
    </vt:vector>
  </HeadingPairs>
  <TitlesOfParts>
    <vt:vector size="18" baseType="lpstr">
      <vt:lpstr>Arial</vt:lpstr>
      <vt:lpstr>Calibri</vt:lpstr>
      <vt:lpstr>Cambria</vt:lpstr>
      <vt:lpstr>Courier New</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Shopping System - Coursework Presentation</dc:title>
  <dc:subject>PptxGenJS Presentation</dc:subject>
  <dc:creator>Coursework</dc:creator>
  <cp:lastModifiedBy>Rojbin celik</cp:lastModifiedBy>
  <cp:revision>3</cp:revision>
  <dcterms:created xsi:type="dcterms:W3CDTF">2026-08-31T07:31:49Z</dcterms:created>
  <dcterms:modified xsi:type="dcterms:W3CDTF">2026-08-31T16:29:50Z</dcterms:modified>
</cp:coreProperties>
</file>